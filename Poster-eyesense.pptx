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2" r:id="rId1"/>
  </p:sldMasterIdLst>
  <p:notesMasterIdLst>
    <p:notesMasterId r:id="rId3"/>
  </p:notesMasterIdLst>
  <p:sldIdLst>
    <p:sldId id="256" r:id="rId2"/>
  </p:sldIdLst>
  <p:sldSz cx="329184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24"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B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31" autoAdjust="0"/>
    <p:restoredTop sz="94628" autoAdjust="0"/>
  </p:normalViewPr>
  <p:slideViewPr>
    <p:cSldViewPr>
      <p:cViewPr>
        <p:scale>
          <a:sx n="37" d="100"/>
          <a:sy n="37" d="100"/>
        </p:scale>
        <p:origin x="331" y="-5616"/>
      </p:cViewPr>
      <p:guideLst>
        <p:guide orient="horz" pos="13824"/>
        <p:guide pos="10368"/>
      </p:guideLst>
    </p:cSldViewPr>
  </p:slideViewPr>
  <p:outlineViewPr>
    <p:cViewPr>
      <p:scale>
        <a:sx n="33" d="100"/>
        <a:sy n="33" d="100"/>
      </p:scale>
      <p:origin x="0" y="0"/>
    </p:cViewPr>
  </p:outlineViewPr>
  <p:notesTextViewPr>
    <p:cViewPr>
      <p:scale>
        <a:sx n="200" d="100"/>
        <a:sy n="200" d="100"/>
      </p:scale>
      <p:origin x="0" y="-58"/>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0315D8-AE74-404C-9DAB-A1247DDE073E}"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US"/>
        </a:p>
      </dgm:t>
    </dgm:pt>
    <dgm:pt modelId="{33B26085-F8AE-4166-8670-1175C0EB9C68}">
      <dgm:prSet phldrT="[Text]" custT="1"/>
      <dgm:spPr/>
      <dgm:t>
        <a:bodyPr/>
        <a:lstStyle/>
        <a:p>
          <a:pPr marL="0" lvl="0" algn="just" defTabSz="3656758" rtl="0" eaLnBrk="1" latinLnBrk="0" hangingPunct="1">
            <a:buNone/>
          </a:pPr>
          <a:r>
            <a:rPr lang="en-US" sz="4400" b="0" i="0" kern="1200" dirty="0"/>
            <a:t>A significant number of traffic accidents and fatalities are caused by driver fatigue, drowsiness, and aggressive driving. Despite advances in vehicle safety, there remains a pressing need for a comprehensive, real-time monitoring system that can effectively detect and respond to these states. This poster presents "</a:t>
          </a:r>
          <a:r>
            <a:rPr lang="en-US" sz="4400" b="0" i="0" kern="1200" dirty="0" err="1"/>
            <a:t>Eyesense</a:t>
          </a:r>
          <a:r>
            <a:rPr lang="en-US" sz="4400" b="0" i="0" kern="1200" dirty="0"/>
            <a:t>," a monitoring system equipped with an AI Buddy, designed to detect driver drowsiness and emotional state. The system utilizes a Convolutional Neural Network (CNN) model for visual analysis of the driver's face, achieving near-perfect accuracy (96%) in drowsiness detection and promising performance in emotion recognition from audio. The findings demonstrate the potential of deep learning models to provide real-time, individualized feedback, thereby enhancing driver safety</a:t>
          </a:r>
          <a:r>
            <a:rPr lang="en-US" sz="4400" kern="1200" dirty="0"/>
            <a:t>.</a:t>
          </a:r>
          <a:endParaRPr lang="en-US" sz="4400" kern="1200" dirty="0">
            <a:solidFill>
              <a:schemeClr val="tx1"/>
            </a:solidFill>
            <a:latin typeface="+mn-lt"/>
            <a:ea typeface="+mn-ea"/>
            <a:cs typeface="+mn-cs"/>
          </a:endParaRPr>
        </a:p>
      </dgm:t>
    </dgm:pt>
    <dgm:pt modelId="{2E80928A-46DB-4629-BC0F-3EF4195A42C8}" type="parTrans" cxnId="{1C5DE25C-30A4-4B1D-9B57-5A681951367F}">
      <dgm:prSet/>
      <dgm:spPr/>
      <dgm:t>
        <a:bodyPr/>
        <a:lstStyle/>
        <a:p>
          <a:endParaRPr lang="en-US"/>
        </a:p>
      </dgm:t>
    </dgm:pt>
    <dgm:pt modelId="{D82F1902-B395-4903-B4E9-A038619655DA}" type="sibTrans" cxnId="{1C5DE25C-30A4-4B1D-9B57-5A681951367F}">
      <dgm:prSet/>
      <dgm:spPr/>
      <dgm:t>
        <a:bodyPr/>
        <a:lstStyle/>
        <a:p>
          <a:endParaRPr lang="en-US"/>
        </a:p>
      </dgm:t>
    </dgm:pt>
    <dgm:pt modelId="{F7725362-E228-4A54-9D27-93EEE5E3534A}">
      <dgm:prSet phldrT="[Text]" custT="1">
        <dgm:style>
          <a:lnRef idx="0">
            <a:scrgbClr r="0" g="0" b="0"/>
          </a:lnRef>
          <a:fillRef idx="0">
            <a:scrgbClr r="0" g="0" b="0"/>
          </a:fillRef>
          <a:effectRef idx="0">
            <a:scrgbClr r="0" g="0" b="0"/>
          </a:effectRef>
          <a:fontRef idx="minor">
            <a:schemeClr val="accent6"/>
          </a:fontRef>
        </dgm:style>
      </dgm:prSet>
      <dgm:spPr>
        <a:noFill/>
        <a:ln>
          <a:noFill/>
        </a:ln>
      </dgm:spPr>
      <dgm:t>
        <a:bodyPr/>
        <a:lstStyle/>
        <a:p>
          <a:pPr marL="0" lvl="0" algn="just" defTabSz="3656758" rtl="0" eaLnBrk="1" latinLnBrk="0" hangingPunct="1">
            <a:buNone/>
          </a:pPr>
          <a:endParaRPr lang="en-US" sz="3600" kern="1200" dirty="0">
            <a:solidFill>
              <a:schemeClr val="tx1"/>
            </a:solidFill>
            <a:latin typeface="+mn-lt"/>
            <a:ea typeface="+mn-ea"/>
            <a:cs typeface="+mn-cs"/>
          </a:endParaRPr>
        </a:p>
      </dgm:t>
    </dgm:pt>
    <dgm:pt modelId="{A8B57B3A-8978-4280-BBC6-8F5D501331EF}" type="parTrans" cxnId="{6073835D-059D-4167-A684-842880FE8D5A}">
      <dgm:prSet/>
      <dgm:spPr/>
      <dgm:t>
        <a:bodyPr/>
        <a:lstStyle/>
        <a:p>
          <a:endParaRPr lang="en-US"/>
        </a:p>
      </dgm:t>
    </dgm:pt>
    <dgm:pt modelId="{72980E60-2144-41F8-BDD7-2B282C5CEB3D}" type="sibTrans" cxnId="{6073835D-059D-4167-A684-842880FE8D5A}">
      <dgm:prSet/>
      <dgm:spPr/>
      <dgm:t>
        <a:bodyPr/>
        <a:lstStyle/>
        <a:p>
          <a:endParaRPr lang="en-US"/>
        </a:p>
      </dgm:t>
    </dgm:pt>
    <dgm:pt modelId="{335A96A4-E9F6-4672-AD74-47E7BF384363}">
      <dgm:prSet phldrT="[Text]" custT="1"/>
      <dgm:spPr/>
      <dgm:t>
        <a:bodyPr/>
        <a:lstStyle/>
        <a:p>
          <a:pPr marL="0" lvl="0" algn="just" defTabSz="3656758"/>
          <a:r>
            <a:rPr lang="en-US" sz="4400" b="1" kern="1200" dirty="0"/>
            <a:t>Keywords:</a:t>
          </a:r>
          <a:r>
            <a:rPr lang="en-US" sz="4400" kern="1200" dirty="0"/>
            <a:t> computer vision, image processing, mobile application development, </a:t>
          </a:r>
          <a:r>
            <a:rPr lang="en-US" sz="4400" b="0" i="0" kern="1200" dirty="0"/>
            <a:t>driver drowsiness detection, convolutional neural network, intelligent transportation systems, real-time monitoring</a:t>
          </a:r>
          <a:endParaRPr lang="en-US" sz="4400" kern="1200" dirty="0">
            <a:solidFill>
              <a:schemeClr val="tx1"/>
            </a:solidFill>
            <a:latin typeface="+mn-lt"/>
            <a:ea typeface="+mn-ea"/>
            <a:cs typeface="+mn-cs"/>
          </a:endParaRPr>
        </a:p>
      </dgm:t>
    </dgm:pt>
    <dgm:pt modelId="{861C0EEE-F8C5-4A45-830E-BBE568006EF6}" type="parTrans" cxnId="{9F2419F1-85BD-496D-BB7C-7969D1416B24}">
      <dgm:prSet/>
      <dgm:spPr/>
      <dgm:t>
        <a:bodyPr/>
        <a:lstStyle/>
        <a:p>
          <a:endParaRPr lang="en-US"/>
        </a:p>
      </dgm:t>
    </dgm:pt>
    <dgm:pt modelId="{A1B0AFB9-8F95-4DAF-AF9C-E56C50CD1ED9}" type="sibTrans" cxnId="{9F2419F1-85BD-496D-BB7C-7969D1416B24}">
      <dgm:prSet/>
      <dgm:spPr/>
      <dgm:t>
        <a:bodyPr/>
        <a:lstStyle/>
        <a:p>
          <a:endParaRPr lang="en-US"/>
        </a:p>
      </dgm:t>
    </dgm:pt>
    <dgm:pt modelId="{FE73A363-3C1C-4F3C-99ED-208FA7B11F95}" type="pres">
      <dgm:prSet presAssocID="{880315D8-AE74-404C-9DAB-A1247DDE073E}" presName="linear" presStyleCnt="0">
        <dgm:presLayoutVars>
          <dgm:animLvl val="lvl"/>
          <dgm:resizeHandles val="exact"/>
        </dgm:presLayoutVars>
      </dgm:prSet>
      <dgm:spPr/>
    </dgm:pt>
    <dgm:pt modelId="{2C0B9A68-84BA-4CAB-8AB0-36471D36D7BE}" type="pres">
      <dgm:prSet presAssocID="{F7725362-E228-4A54-9D27-93EEE5E3534A}" presName="parentText" presStyleLbl="node1" presStyleIdx="0" presStyleCnt="1">
        <dgm:presLayoutVars>
          <dgm:chMax val="0"/>
          <dgm:bulletEnabled val="1"/>
        </dgm:presLayoutVars>
      </dgm:prSet>
      <dgm:spPr/>
    </dgm:pt>
    <dgm:pt modelId="{DFBE92D9-A307-42DA-AABD-0666AA307613}" type="pres">
      <dgm:prSet presAssocID="{F7725362-E228-4A54-9D27-93EEE5E3534A}" presName="childText" presStyleLbl="revTx" presStyleIdx="0" presStyleCnt="1" custLinFactY="-885" custLinFactNeighborY="-100000">
        <dgm:presLayoutVars>
          <dgm:bulletEnabled val="1"/>
        </dgm:presLayoutVars>
      </dgm:prSet>
      <dgm:spPr/>
    </dgm:pt>
  </dgm:ptLst>
  <dgm:cxnLst>
    <dgm:cxn modelId="{1C5DE25C-30A4-4B1D-9B57-5A681951367F}" srcId="{F7725362-E228-4A54-9D27-93EEE5E3534A}" destId="{33B26085-F8AE-4166-8670-1175C0EB9C68}" srcOrd="0" destOrd="0" parTransId="{2E80928A-46DB-4629-BC0F-3EF4195A42C8}" sibTransId="{D82F1902-B395-4903-B4E9-A038619655DA}"/>
    <dgm:cxn modelId="{6073835D-059D-4167-A684-842880FE8D5A}" srcId="{880315D8-AE74-404C-9DAB-A1247DDE073E}" destId="{F7725362-E228-4A54-9D27-93EEE5E3534A}" srcOrd="0" destOrd="0" parTransId="{A8B57B3A-8978-4280-BBC6-8F5D501331EF}" sibTransId="{72980E60-2144-41F8-BDD7-2B282C5CEB3D}"/>
    <dgm:cxn modelId="{73336145-423C-46CD-9B32-6024EE3D6780}" type="presOf" srcId="{335A96A4-E9F6-4672-AD74-47E7BF384363}" destId="{DFBE92D9-A307-42DA-AABD-0666AA307613}" srcOrd="0" destOrd="1" presId="urn:microsoft.com/office/officeart/2005/8/layout/vList2"/>
    <dgm:cxn modelId="{D69E7A50-32E2-433F-AC86-00C6D3931939}" type="presOf" srcId="{33B26085-F8AE-4166-8670-1175C0EB9C68}" destId="{DFBE92D9-A307-42DA-AABD-0666AA307613}" srcOrd="0" destOrd="0" presId="urn:microsoft.com/office/officeart/2005/8/layout/vList2"/>
    <dgm:cxn modelId="{12C917B6-6F60-465A-829D-B00C37B22471}" type="presOf" srcId="{880315D8-AE74-404C-9DAB-A1247DDE073E}" destId="{FE73A363-3C1C-4F3C-99ED-208FA7B11F95}" srcOrd="0" destOrd="0" presId="urn:microsoft.com/office/officeart/2005/8/layout/vList2"/>
    <dgm:cxn modelId="{F4F65DC7-A0D0-44F5-B46D-BFB8B995849C}" type="presOf" srcId="{F7725362-E228-4A54-9D27-93EEE5E3534A}" destId="{2C0B9A68-84BA-4CAB-8AB0-36471D36D7BE}" srcOrd="0" destOrd="0" presId="urn:microsoft.com/office/officeart/2005/8/layout/vList2"/>
    <dgm:cxn modelId="{9F2419F1-85BD-496D-BB7C-7969D1416B24}" srcId="{F7725362-E228-4A54-9D27-93EEE5E3534A}" destId="{335A96A4-E9F6-4672-AD74-47E7BF384363}" srcOrd="1" destOrd="0" parTransId="{861C0EEE-F8C5-4A45-830E-BBE568006EF6}" sibTransId="{A1B0AFB9-8F95-4DAF-AF9C-E56C50CD1ED9}"/>
    <dgm:cxn modelId="{6455A02E-809D-43D4-8973-FF2D65B1E545}" type="presParOf" srcId="{FE73A363-3C1C-4F3C-99ED-208FA7B11F95}" destId="{2C0B9A68-84BA-4CAB-8AB0-36471D36D7BE}" srcOrd="0" destOrd="0" presId="urn:microsoft.com/office/officeart/2005/8/layout/vList2"/>
    <dgm:cxn modelId="{944E0F40-0478-492D-B4A5-A44181851F1E}" type="presParOf" srcId="{FE73A363-3C1C-4F3C-99ED-208FA7B11F95}" destId="{DFBE92D9-A307-42DA-AABD-0666AA307613}"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80315D8-AE74-404C-9DAB-A1247DDE073E}"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US"/>
        </a:p>
      </dgm:t>
    </dgm:pt>
    <dgm:pt modelId="{33B26085-F8AE-4166-8670-1175C0EB9C68}">
      <dgm:prSet phldrT="[Text]" custT="1"/>
      <dgm:spPr/>
      <dgm:t>
        <a:bodyPr/>
        <a:lstStyle/>
        <a:p>
          <a:pPr marL="0" lvl="0" algn="just" defTabSz="3656758" rtl="0" eaLnBrk="1" latinLnBrk="0" hangingPunct="1">
            <a:buNone/>
          </a:pPr>
          <a:r>
            <a:rPr lang="en-US" sz="3600" b="0" i="0" kern="1200" dirty="0"/>
            <a:t>Traffic safety remains a critical global concern. In the United States alone, fatigue-related collisions are responsible for an estimated 50,000 injuries and 800 fatalities annually. Furthermore, aggressive driving is a factor in 56% of fatal crashes. These statistics underscore the urgent need for proactive systems that can mitigate human factors in accidents.</a:t>
          </a:r>
          <a:endParaRPr lang="en-US" sz="3600" kern="1200" dirty="0">
            <a:solidFill>
              <a:srgbClr val="000000"/>
            </a:solidFill>
            <a:latin typeface="+mn-lt"/>
            <a:ea typeface="+mn-ea"/>
            <a:cs typeface="+mn-cs"/>
          </a:endParaRPr>
        </a:p>
      </dgm:t>
    </dgm:pt>
    <dgm:pt modelId="{2E80928A-46DB-4629-BC0F-3EF4195A42C8}" type="parTrans" cxnId="{1C5DE25C-30A4-4B1D-9B57-5A681951367F}">
      <dgm:prSet/>
      <dgm:spPr/>
      <dgm:t>
        <a:bodyPr/>
        <a:lstStyle/>
        <a:p>
          <a:endParaRPr lang="en-US"/>
        </a:p>
      </dgm:t>
    </dgm:pt>
    <dgm:pt modelId="{D82F1902-B395-4903-B4E9-A038619655DA}" type="sibTrans" cxnId="{1C5DE25C-30A4-4B1D-9B57-5A681951367F}">
      <dgm:prSet/>
      <dgm:spPr/>
      <dgm:t>
        <a:bodyPr/>
        <a:lstStyle/>
        <a:p>
          <a:endParaRPr lang="en-US"/>
        </a:p>
      </dgm:t>
    </dgm:pt>
    <dgm:pt modelId="{F7725362-E228-4A54-9D27-93EEE5E3534A}">
      <dgm:prSet phldrT="[Text]" custT="1">
        <dgm:style>
          <a:lnRef idx="0">
            <a:scrgbClr r="0" g="0" b="0"/>
          </a:lnRef>
          <a:fillRef idx="0">
            <a:scrgbClr r="0" g="0" b="0"/>
          </a:fillRef>
          <a:effectRef idx="0">
            <a:scrgbClr r="0" g="0" b="0"/>
          </a:effectRef>
          <a:fontRef idx="minor">
            <a:schemeClr val="accent6"/>
          </a:fontRef>
        </dgm:style>
      </dgm:prSet>
      <dgm:spPr>
        <a:noFill/>
        <a:ln>
          <a:noFill/>
        </a:ln>
      </dgm:spPr>
      <dgm:t>
        <a:bodyPr/>
        <a:lstStyle/>
        <a:p>
          <a:pPr marL="0" lvl="0" algn="just" defTabSz="3656758" rtl="0" eaLnBrk="1" latinLnBrk="0" hangingPunct="1">
            <a:buNone/>
          </a:pPr>
          <a:endParaRPr lang="en-US" sz="3600" kern="1200" dirty="0">
            <a:solidFill>
              <a:schemeClr val="tx1"/>
            </a:solidFill>
            <a:latin typeface="+mn-lt"/>
            <a:ea typeface="+mn-ea"/>
            <a:cs typeface="+mn-cs"/>
          </a:endParaRPr>
        </a:p>
      </dgm:t>
    </dgm:pt>
    <dgm:pt modelId="{A8B57B3A-8978-4280-BBC6-8F5D501331EF}" type="parTrans" cxnId="{6073835D-059D-4167-A684-842880FE8D5A}">
      <dgm:prSet/>
      <dgm:spPr/>
      <dgm:t>
        <a:bodyPr/>
        <a:lstStyle/>
        <a:p>
          <a:endParaRPr lang="en-US"/>
        </a:p>
      </dgm:t>
    </dgm:pt>
    <dgm:pt modelId="{72980E60-2144-41F8-BDD7-2B282C5CEB3D}" type="sibTrans" cxnId="{6073835D-059D-4167-A684-842880FE8D5A}">
      <dgm:prSet/>
      <dgm:spPr/>
      <dgm:t>
        <a:bodyPr/>
        <a:lstStyle/>
        <a:p>
          <a:endParaRPr lang="en-US"/>
        </a:p>
      </dgm:t>
    </dgm:pt>
    <dgm:pt modelId="{6AE44398-20F8-4839-9C9A-5B99631D23FA}">
      <dgm:prSet custT="1"/>
      <dgm:spPr/>
      <dgm:t>
        <a:bodyPr/>
        <a:lstStyle/>
        <a:p>
          <a:pPr marL="0" lvl="0" algn="just" defTabSz="3656758">
            <a:buNone/>
          </a:pPr>
          <a:r>
            <a:rPr lang="en-US" sz="3600" dirty="0">
              <a:solidFill>
                <a:srgbClr val="000000"/>
              </a:solidFill>
              <a:latin typeface="+mn-lt"/>
              <a:ea typeface="Average"/>
              <a:cs typeface="Average"/>
              <a:sym typeface="Average"/>
            </a:rPr>
            <a:t>Research question: Can we develop a free and reliable AI</a:t>
          </a:r>
          <a:r>
            <a:rPr lang="en-US" sz="3600" dirty="0">
              <a:latin typeface="+mn-lt"/>
              <a:ea typeface="Average"/>
              <a:cs typeface="Average"/>
              <a:sym typeface="Average"/>
            </a:rPr>
            <a:t>-</a:t>
          </a:r>
          <a:r>
            <a:rPr lang="en-US" sz="3600" dirty="0">
              <a:solidFill>
                <a:srgbClr val="000000"/>
              </a:solidFill>
              <a:latin typeface="+mn-lt"/>
              <a:ea typeface="Average"/>
              <a:cs typeface="Average"/>
              <a:sym typeface="Average"/>
            </a:rPr>
            <a:t>based </a:t>
          </a:r>
          <a:r>
            <a:rPr lang="en-US" sz="3600" dirty="0">
              <a:latin typeface="+mn-lt"/>
              <a:ea typeface="Average"/>
              <a:cs typeface="Average"/>
              <a:sym typeface="Average"/>
            </a:rPr>
            <a:t>a</a:t>
          </a:r>
          <a:r>
            <a:rPr lang="en-US" sz="3600" dirty="0">
              <a:solidFill>
                <a:srgbClr val="000000"/>
              </a:solidFill>
              <a:latin typeface="+mn-lt"/>
              <a:ea typeface="Average"/>
              <a:cs typeface="Average"/>
              <a:sym typeface="Average"/>
            </a:rPr>
            <a:t>pp to detect driver’s drowsiness? </a:t>
          </a:r>
          <a:endParaRPr lang="en-US" sz="3600" dirty="0">
            <a:solidFill>
              <a:srgbClr val="374151"/>
            </a:solidFill>
            <a:latin typeface="+mn-lt"/>
            <a:ea typeface="Average"/>
            <a:cs typeface="Average"/>
            <a:sym typeface="Average"/>
          </a:endParaRPr>
        </a:p>
      </dgm:t>
    </dgm:pt>
    <dgm:pt modelId="{BA2DDBC6-D4F9-4E71-A973-5F9323D4F715}" type="parTrans" cxnId="{5756890A-33AF-443B-AA49-EC9A1D4762F7}">
      <dgm:prSet/>
      <dgm:spPr/>
      <dgm:t>
        <a:bodyPr/>
        <a:lstStyle/>
        <a:p>
          <a:endParaRPr lang="en-US"/>
        </a:p>
      </dgm:t>
    </dgm:pt>
    <dgm:pt modelId="{72E935A3-3E76-430E-B28A-22613EA82A5D}" type="sibTrans" cxnId="{5756890A-33AF-443B-AA49-EC9A1D4762F7}">
      <dgm:prSet/>
      <dgm:spPr/>
      <dgm:t>
        <a:bodyPr/>
        <a:lstStyle/>
        <a:p>
          <a:endParaRPr lang="en-US"/>
        </a:p>
      </dgm:t>
    </dgm:pt>
    <dgm:pt modelId="{48A28196-768D-4617-9754-057B41836D48}">
      <dgm:prSet custT="1"/>
      <dgm:spPr/>
      <dgm:t>
        <a:bodyPr/>
        <a:lstStyle/>
        <a:p>
          <a:pPr>
            <a:buNone/>
          </a:pPr>
          <a:r>
            <a:rPr lang="en-US" sz="3600" b="0" i="0" dirty="0"/>
            <a:t>Current vehicle safety technologies often lack the capability to deliver real-time, personalized interventions for driver states like fatigue and aggression. The proliferation of sophisticated deep learning models and ubiquitous camera sensors in vehicles presents a unique opportunity to address this gap.</a:t>
          </a:r>
        </a:p>
      </dgm:t>
    </dgm:pt>
    <dgm:pt modelId="{BC2F96BC-2530-4D5D-A570-DFE3F5CB6D17}" type="parTrans" cxnId="{A4AA430E-AE49-4C47-832D-0B9743DFD10A}">
      <dgm:prSet/>
      <dgm:spPr/>
      <dgm:t>
        <a:bodyPr/>
        <a:lstStyle/>
        <a:p>
          <a:endParaRPr lang="en-US"/>
        </a:p>
      </dgm:t>
    </dgm:pt>
    <dgm:pt modelId="{8A12F9A8-9F4E-4F5D-A9A9-D6F1A3187E9B}" type="sibTrans" cxnId="{A4AA430E-AE49-4C47-832D-0B9743DFD10A}">
      <dgm:prSet/>
      <dgm:spPr/>
      <dgm:t>
        <a:bodyPr/>
        <a:lstStyle/>
        <a:p>
          <a:endParaRPr lang="en-US"/>
        </a:p>
      </dgm:t>
    </dgm:pt>
    <dgm:pt modelId="{3FD1A7D8-ED42-48AD-9DB6-F5A29D5EC0F6}">
      <dgm:prSet custT="1"/>
      <dgm:spPr/>
      <dgm:t>
        <a:bodyPr/>
        <a:lstStyle/>
        <a:p>
          <a:pPr>
            <a:buNone/>
          </a:pPr>
          <a:r>
            <a:rPr lang="en-US" sz="3600" b="0" i="0" dirty="0"/>
            <a:t>This poster introduces </a:t>
          </a:r>
          <a:r>
            <a:rPr lang="en-US" sz="3600" b="0" i="0" dirty="0" err="1"/>
            <a:t>Eyesense</a:t>
          </a:r>
          <a:r>
            <a:rPr lang="en-US" sz="3600" b="0" i="0" dirty="0"/>
            <a:t>, a fatigue and emotion monitoring system featuring an AI Buddy. The goal of this system is to leverage deep learning to perform frequent, individualized assessments of the driver's state through visual cues. By providing timely alerts and feedback, </a:t>
          </a:r>
          <a:r>
            <a:rPr lang="en-US" sz="3600" b="0" i="0" dirty="0" err="1"/>
            <a:t>Eyesense</a:t>
          </a:r>
          <a:r>
            <a:rPr lang="en-US" sz="3600" b="0" i="0" dirty="0"/>
            <a:t> aims to reduce the incidence of accidents caused by impaired driver states.</a:t>
          </a:r>
        </a:p>
      </dgm:t>
    </dgm:pt>
    <dgm:pt modelId="{76D75451-3680-4AE2-803A-1680F5D31E88}" type="parTrans" cxnId="{578E9670-5ED2-4F92-8D42-54D2FDB2D495}">
      <dgm:prSet/>
      <dgm:spPr/>
      <dgm:t>
        <a:bodyPr/>
        <a:lstStyle/>
        <a:p>
          <a:endParaRPr lang="en-US"/>
        </a:p>
      </dgm:t>
    </dgm:pt>
    <dgm:pt modelId="{0679ABEB-2F53-493B-ADC5-07DF4DCF532D}" type="sibTrans" cxnId="{578E9670-5ED2-4F92-8D42-54D2FDB2D495}">
      <dgm:prSet/>
      <dgm:spPr/>
      <dgm:t>
        <a:bodyPr/>
        <a:lstStyle/>
        <a:p>
          <a:endParaRPr lang="en-US"/>
        </a:p>
      </dgm:t>
    </dgm:pt>
    <dgm:pt modelId="{FE73A363-3C1C-4F3C-99ED-208FA7B11F95}" type="pres">
      <dgm:prSet presAssocID="{880315D8-AE74-404C-9DAB-A1247DDE073E}" presName="linear" presStyleCnt="0">
        <dgm:presLayoutVars>
          <dgm:animLvl val="lvl"/>
          <dgm:resizeHandles val="exact"/>
        </dgm:presLayoutVars>
      </dgm:prSet>
      <dgm:spPr/>
    </dgm:pt>
    <dgm:pt modelId="{2C0B9A68-84BA-4CAB-8AB0-36471D36D7BE}" type="pres">
      <dgm:prSet presAssocID="{F7725362-E228-4A54-9D27-93EEE5E3534A}" presName="parentText" presStyleLbl="node1" presStyleIdx="0" presStyleCnt="1">
        <dgm:presLayoutVars>
          <dgm:chMax val="0"/>
          <dgm:bulletEnabled val="1"/>
        </dgm:presLayoutVars>
      </dgm:prSet>
      <dgm:spPr/>
    </dgm:pt>
    <dgm:pt modelId="{DFBE92D9-A307-42DA-AABD-0666AA307613}" type="pres">
      <dgm:prSet presAssocID="{F7725362-E228-4A54-9D27-93EEE5E3534A}" presName="childText" presStyleLbl="revTx" presStyleIdx="0" presStyleCnt="1" custScaleY="104191" custLinFactY="-1203" custLinFactNeighborY="-100000">
        <dgm:presLayoutVars>
          <dgm:bulletEnabled val="1"/>
        </dgm:presLayoutVars>
      </dgm:prSet>
      <dgm:spPr/>
    </dgm:pt>
  </dgm:ptLst>
  <dgm:cxnLst>
    <dgm:cxn modelId="{5756890A-33AF-443B-AA49-EC9A1D4762F7}" srcId="{F7725362-E228-4A54-9D27-93EEE5E3534A}" destId="{6AE44398-20F8-4839-9C9A-5B99631D23FA}" srcOrd="3" destOrd="0" parTransId="{BA2DDBC6-D4F9-4E71-A973-5F9323D4F715}" sibTransId="{72E935A3-3E76-430E-B28A-22613EA82A5D}"/>
    <dgm:cxn modelId="{A4AA430E-AE49-4C47-832D-0B9743DFD10A}" srcId="{F7725362-E228-4A54-9D27-93EEE5E3534A}" destId="{48A28196-768D-4617-9754-057B41836D48}" srcOrd="1" destOrd="0" parTransId="{BC2F96BC-2530-4D5D-A570-DFE3F5CB6D17}" sibTransId="{8A12F9A8-9F4E-4F5D-A9A9-D6F1A3187E9B}"/>
    <dgm:cxn modelId="{75FF1E26-00BF-4AD8-B8BE-5DFD668D8542}" type="presOf" srcId="{3FD1A7D8-ED42-48AD-9DB6-F5A29D5EC0F6}" destId="{DFBE92D9-A307-42DA-AABD-0666AA307613}" srcOrd="0" destOrd="2" presId="urn:microsoft.com/office/officeart/2005/8/layout/vList2"/>
    <dgm:cxn modelId="{1C5DE25C-30A4-4B1D-9B57-5A681951367F}" srcId="{F7725362-E228-4A54-9D27-93EEE5E3534A}" destId="{33B26085-F8AE-4166-8670-1175C0EB9C68}" srcOrd="0" destOrd="0" parTransId="{2E80928A-46DB-4629-BC0F-3EF4195A42C8}" sibTransId="{D82F1902-B395-4903-B4E9-A038619655DA}"/>
    <dgm:cxn modelId="{6073835D-059D-4167-A684-842880FE8D5A}" srcId="{880315D8-AE74-404C-9DAB-A1247DDE073E}" destId="{F7725362-E228-4A54-9D27-93EEE5E3534A}" srcOrd="0" destOrd="0" parTransId="{A8B57B3A-8978-4280-BBC6-8F5D501331EF}" sibTransId="{72980E60-2144-41F8-BDD7-2B282C5CEB3D}"/>
    <dgm:cxn modelId="{D69E7A50-32E2-433F-AC86-00C6D3931939}" type="presOf" srcId="{33B26085-F8AE-4166-8670-1175C0EB9C68}" destId="{DFBE92D9-A307-42DA-AABD-0666AA307613}" srcOrd="0" destOrd="0" presId="urn:microsoft.com/office/officeart/2005/8/layout/vList2"/>
    <dgm:cxn modelId="{578E9670-5ED2-4F92-8D42-54D2FDB2D495}" srcId="{F7725362-E228-4A54-9D27-93EEE5E3534A}" destId="{3FD1A7D8-ED42-48AD-9DB6-F5A29D5EC0F6}" srcOrd="2" destOrd="0" parTransId="{76D75451-3680-4AE2-803A-1680F5D31E88}" sibTransId="{0679ABEB-2F53-493B-ADC5-07DF4DCF532D}"/>
    <dgm:cxn modelId="{47467976-4EB2-46DC-8051-87BC4F8AD29D}" type="presOf" srcId="{48A28196-768D-4617-9754-057B41836D48}" destId="{DFBE92D9-A307-42DA-AABD-0666AA307613}" srcOrd="0" destOrd="1" presId="urn:microsoft.com/office/officeart/2005/8/layout/vList2"/>
    <dgm:cxn modelId="{0630307F-007C-406A-BF34-98CA4D7A7D70}" type="presOf" srcId="{6AE44398-20F8-4839-9C9A-5B99631D23FA}" destId="{DFBE92D9-A307-42DA-AABD-0666AA307613}" srcOrd="0" destOrd="3" presId="urn:microsoft.com/office/officeart/2005/8/layout/vList2"/>
    <dgm:cxn modelId="{12C917B6-6F60-465A-829D-B00C37B22471}" type="presOf" srcId="{880315D8-AE74-404C-9DAB-A1247DDE073E}" destId="{FE73A363-3C1C-4F3C-99ED-208FA7B11F95}" srcOrd="0" destOrd="0" presId="urn:microsoft.com/office/officeart/2005/8/layout/vList2"/>
    <dgm:cxn modelId="{F4F65DC7-A0D0-44F5-B46D-BFB8B995849C}" type="presOf" srcId="{F7725362-E228-4A54-9D27-93EEE5E3534A}" destId="{2C0B9A68-84BA-4CAB-8AB0-36471D36D7BE}" srcOrd="0" destOrd="0" presId="urn:microsoft.com/office/officeart/2005/8/layout/vList2"/>
    <dgm:cxn modelId="{6455A02E-809D-43D4-8973-FF2D65B1E545}" type="presParOf" srcId="{FE73A363-3C1C-4F3C-99ED-208FA7B11F95}" destId="{2C0B9A68-84BA-4CAB-8AB0-36471D36D7BE}" srcOrd="0" destOrd="0" presId="urn:microsoft.com/office/officeart/2005/8/layout/vList2"/>
    <dgm:cxn modelId="{944E0F40-0478-492D-B4A5-A44181851F1E}" type="presParOf" srcId="{FE73A363-3C1C-4F3C-99ED-208FA7B11F95}" destId="{DFBE92D9-A307-42DA-AABD-0666AA307613}" srcOrd="1" destOrd="0" presId="urn:microsoft.com/office/officeart/2005/8/layout/vList2"/>
  </dgm:cxnLst>
  <dgm:bg>
    <a:noFill/>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0B9A68-84BA-4CAB-8AB0-36471D36D7BE}">
      <dsp:nvSpPr>
        <dsp:cNvPr id="0" name=""/>
        <dsp:cNvSpPr/>
      </dsp:nvSpPr>
      <dsp:spPr>
        <a:xfrm>
          <a:off x="0" y="6870"/>
          <a:ext cx="14622237" cy="60543"/>
        </a:xfrm>
        <a:prstGeom prst="roundRect">
          <a:avLst/>
        </a:prstGeom>
        <a:noFill/>
        <a:ln>
          <a:noFill/>
        </a:ln>
        <a:effectLst/>
        <a:scene3d>
          <a:camera prst="orthographicFront"/>
          <a:lightRig rig="flat" dir="t"/>
        </a:scene3d>
        <a:sp3d/>
      </dsp:spPr>
      <dsp:style>
        <a:lnRef idx="0">
          <a:scrgbClr r="0" g="0" b="0"/>
        </a:lnRef>
        <a:fillRef idx="0">
          <a:scrgbClr r="0" g="0" b="0"/>
        </a:fillRef>
        <a:effectRef idx="0">
          <a:scrgbClr r="0" g="0" b="0"/>
        </a:effectRef>
        <a:fontRef idx="minor">
          <a:schemeClr val="accent6"/>
        </a:fontRef>
      </dsp:style>
      <dsp:txBody>
        <a:bodyPr spcFirstLastPara="0" vert="horz" wrap="square" lIns="137160" tIns="137160" rIns="137160" bIns="137160" numCol="1" spcCol="1270" anchor="ctr" anchorCtr="0">
          <a:noAutofit/>
        </a:bodyPr>
        <a:lstStyle/>
        <a:p>
          <a:pPr marL="0" lvl="0" indent="0" algn="just" defTabSz="3656758" rtl="0" eaLnBrk="1" latinLnBrk="0" hangingPunct="1">
            <a:lnSpc>
              <a:spcPct val="90000"/>
            </a:lnSpc>
            <a:spcBef>
              <a:spcPct val="0"/>
            </a:spcBef>
            <a:spcAft>
              <a:spcPct val="35000"/>
            </a:spcAft>
            <a:buNone/>
          </a:pPr>
          <a:endParaRPr lang="en-US" sz="3600" kern="1200" dirty="0">
            <a:solidFill>
              <a:schemeClr val="tx1"/>
            </a:solidFill>
            <a:latin typeface="+mn-lt"/>
            <a:ea typeface="+mn-ea"/>
            <a:cs typeface="+mn-cs"/>
          </a:endParaRPr>
        </a:p>
      </dsp:txBody>
      <dsp:txXfrm>
        <a:off x="2955" y="9825"/>
        <a:ext cx="14616327" cy="54633"/>
      </dsp:txXfrm>
    </dsp:sp>
    <dsp:sp modelId="{DFBE92D9-A307-42DA-AABD-0666AA307613}">
      <dsp:nvSpPr>
        <dsp:cNvPr id="0" name=""/>
        <dsp:cNvSpPr/>
      </dsp:nvSpPr>
      <dsp:spPr>
        <a:xfrm>
          <a:off x="0" y="0"/>
          <a:ext cx="14622237" cy="7712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64256" tIns="55880" rIns="312928" bIns="55880" numCol="1" spcCol="1270" anchor="t" anchorCtr="0">
          <a:noAutofit/>
        </a:bodyPr>
        <a:lstStyle/>
        <a:p>
          <a:pPr marL="0" lvl="0" indent="-285750" algn="just" defTabSz="3656758" rtl="0" eaLnBrk="1" latinLnBrk="0" hangingPunct="1">
            <a:lnSpc>
              <a:spcPct val="90000"/>
            </a:lnSpc>
            <a:spcBef>
              <a:spcPct val="0"/>
            </a:spcBef>
            <a:spcAft>
              <a:spcPct val="20000"/>
            </a:spcAft>
            <a:buNone/>
          </a:pPr>
          <a:r>
            <a:rPr lang="en-US" sz="4400" b="0" i="0" kern="1200" dirty="0"/>
            <a:t>A significant number of traffic accidents and fatalities are caused by driver fatigue, drowsiness, and aggressive driving. Despite advances in vehicle safety, there remains a pressing need for a comprehensive, real-time monitoring system that can effectively detect and respond to these states. This poster presents "</a:t>
          </a:r>
          <a:r>
            <a:rPr lang="en-US" sz="4400" b="0" i="0" kern="1200" dirty="0" err="1"/>
            <a:t>Eyesense</a:t>
          </a:r>
          <a:r>
            <a:rPr lang="en-US" sz="4400" b="0" i="0" kern="1200" dirty="0"/>
            <a:t>," a monitoring system equipped with an AI Buddy, designed to detect driver drowsiness and emotional state. The system utilizes a Convolutional Neural Network (CNN) model for visual analysis of the driver's face, achieving near-perfect accuracy (96%) in drowsiness detection and promising performance in emotion recognition from audio. The findings demonstrate the potential of deep learning models to provide real-time, individualized feedback, thereby enhancing driver safety</a:t>
          </a:r>
          <a:r>
            <a:rPr lang="en-US" sz="4400" kern="1200" dirty="0"/>
            <a:t>.</a:t>
          </a:r>
          <a:endParaRPr lang="en-US" sz="4400" kern="1200" dirty="0">
            <a:solidFill>
              <a:schemeClr val="tx1"/>
            </a:solidFill>
            <a:latin typeface="+mn-lt"/>
            <a:ea typeface="+mn-ea"/>
            <a:cs typeface="+mn-cs"/>
          </a:endParaRPr>
        </a:p>
        <a:p>
          <a:pPr marL="0" lvl="0" indent="-285750" algn="just" defTabSz="3656758">
            <a:lnSpc>
              <a:spcPct val="90000"/>
            </a:lnSpc>
            <a:spcBef>
              <a:spcPct val="0"/>
            </a:spcBef>
            <a:spcAft>
              <a:spcPct val="20000"/>
            </a:spcAft>
            <a:buChar char="•"/>
          </a:pPr>
          <a:r>
            <a:rPr lang="en-US" sz="4400" b="1" kern="1200" dirty="0"/>
            <a:t>Keywords:</a:t>
          </a:r>
          <a:r>
            <a:rPr lang="en-US" sz="4400" kern="1200" dirty="0"/>
            <a:t> computer vision, image processing, mobile application development, </a:t>
          </a:r>
          <a:r>
            <a:rPr lang="en-US" sz="4400" b="0" i="0" kern="1200" dirty="0"/>
            <a:t>driver drowsiness detection, convolutional neural network, intelligent transportation systems, real-time monitoring</a:t>
          </a:r>
          <a:endParaRPr lang="en-US" sz="4400" kern="1200" dirty="0">
            <a:solidFill>
              <a:schemeClr val="tx1"/>
            </a:solidFill>
            <a:latin typeface="+mn-lt"/>
            <a:ea typeface="+mn-ea"/>
            <a:cs typeface="+mn-cs"/>
          </a:endParaRPr>
        </a:p>
      </dsp:txBody>
      <dsp:txXfrm>
        <a:off x="0" y="0"/>
        <a:ext cx="14622237" cy="77122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0B9A68-84BA-4CAB-8AB0-36471D36D7BE}">
      <dsp:nvSpPr>
        <dsp:cNvPr id="0" name=""/>
        <dsp:cNvSpPr/>
      </dsp:nvSpPr>
      <dsp:spPr>
        <a:xfrm>
          <a:off x="0" y="4142"/>
          <a:ext cx="14365119" cy="91864"/>
        </a:xfrm>
        <a:prstGeom prst="roundRect">
          <a:avLst/>
        </a:prstGeom>
        <a:noFill/>
        <a:ln>
          <a:noFill/>
        </a:ln>
        <a:effectLst/>
        <a:scene3d>
          <a:camera prst="orthographicFront"/>
          <a:lightRig rig="flat" dir="t"/>
        </a:scene3d>
        <a:sp3d/>
      </dsp:spPr>
      <dsp:style>
        <a:lnRef idx="0">
          <a:scrgbClr r="0" g="0" b="0"/>
        </a:lnRef>
        <a:fillRef idx="0">
          <a:scrgbClr r="0" g="0" b="0"/>
        </a:fillRef>
        <a:effectRef idx="0">
          <a:scrgbClr r="0" g="0" b="0"/>
        </a:effectRef>
        <a:fontRef idx="minor">
          <a:schemeClr val="accent6"/>
        </a:fontRef>
      </dsp:style>
      <dsp:txBody>
        <a:bodyPr spcFirstLastPara="0" vert="horz" wrap="square" lIns="137160" tIns="137160" rIns="137160" bIns="137160" numCol="1" spcCol="1270" anchor="ctr" anchorCtr="0">
          <a:noAutofit/>
        </a:bodyPr>
        <a:lstStyle/>
        <a:p>
          <a:pPr marL="0" lvl="0" indent="0" algn="just" defTabSz="3656758" rtl="0" eaLnBrk="1" latinLnBrk="0" hangingPunct="1">
            <a:lnSpc>
              <a:spcPct val="90000"/>
            </a:lnSpc>
            <a:spcBef>
              <a:spcPct val="0"/>
            </a:spcBef>
            <a:spcAft>
              <a:spcPct val="35000"/>
            </a:spcAft>
            <a:buNone/>
          </a:pPr>
          <a:endParaRPr lang="en-US" sz="3600" kern="1200" dirty="0">
            <a:solidFill>
              <a:schemeClr val="tx1"/>
            </a:solidFill>
            <a:latin typeface="+mn-lt"/>
            <a:ea typeface="+mn-ea"/>
            <a:cs typeface="+mn-cs"/>
          </a:endParaRPr>
        </a:p>
      </dsp:txBody>
      <dsp:txXfrm>
        <a:off x="4484" y="8626"/>
        <a:ext cx="14356151" cy="82896"/>
      </dsp:txXfrm>
    </dsp:sp>
    <dsp:sp modelId="{DFBE92D9-A307-42DA-AABD-0666AA307613}">
      <dsp:nvSpPr>
        <dsp:cNvPr id="0" name=""/>
        <dsp:cNvSpPr/>
      </dsp:nvSpPr>
      <dsp:spPr>
        <a:xfrm>
          <a:off x="0" y="0"/>
          <a:ext cx="14365119" cy="5302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6093" tIns="45720" rIns="256032" bIns="45720" numCol="1" spcCol="1270" anchor="t" anchorCtr="0">
          <a:noAutofit/>
        </a:bodyPr>
        <a:lstStyle/>
        <a:p>
          <a:pPr marL="0" lvl="0" indent="-285750" algn="just" defTabSz="3656758" rtl="0" eaLnBrk="1" latinLnBrk="0" hangingPunct="1">
            <a:lnSpc>
              <a:spcPct val="90000"/>
            </a:lnSpc>
            <a:spcBef>
              <a:spcPct val="0"/>
            </a:spcBef>
            <a:spcAft>
              <a:spcPct val="20000"/>
            </a:spcAft>
            <a:buNone/>
          </a:pPr>
          <a:r>
            <a:rPr lang="en-US" sz="3600" b="0" i="0" kern="1200" dirty="0"/>
            <a:t>Traffic safety remains a critical global concern. In the United States alone, fatigue-related collisions are responsible for an estimated 50,000 injuries and 800 fatalities annually. Furthermore, aggressive driving is a factor in 56% of fatal crashes. These statistics underscore the urgent need for proactive systems that can mitigate human factors in accidents.</a:t>
          </a:r>
          <a:endParaRPr lang="en-US" sz="3600" kern="1200" dirty="0">
            <a:solidFill>
              <a:srgbClr val="000000"/>
            </a:solidFill>
            <a:latin typeface="+mn-lt"/>
            <a:ea typeface="+mn-ea"/>
            <a:cs typeface="+mn-cs"/>
          </a:endParaRPr>
        </a:p>
        <a:p>
          <a:pPr marL="285750" lvl="1" indent="-285750" algn="l" defTabSz="1600200">
            <a:lnSpc>
              <a:spcPct val="90000"/>
            </a:lnSpc>
            <a:spcBef>
              <a:spcPct val="0"/>
            </a:spcBef>
            <a:spcAft>
              <a:spcPct val="20000"/>
            </a:spcAft>
            <a:buNone/>
          </a:pPr>
          <a:r>
            <a:rPr lang="en-US" sz="3600" b="0" i="0" kern="1200" dirty="0"/>
            <a:t>Current vehicle safety technologies often lack the capability to deliver real-time, personalized interventions for driver states like fatigue and aggression. The proliferation of sophisticated deep learning models and ubiquitous camera sensors in vehicles presents a unique opportunity to address this gap.</a:t>
          </a:r>
        </a:p>
        <a:p>
          <a:pPr marL="285750" lvl="1" indent="-285750" algn="l" defTabSz="1600200">
            <a:lnSpc>
              <a:spcPct val="90000"/>
            </a:lnSpc>
            <a:spcBef>
              <a:spcPct val="0"/>
            </a:spcBef>
            <a:spcAft>
              <a:spcPct val="20000"/>
            </a:spcAft>
            <a:buNone/>
          </a:pPr>
          <a:r>
            <a:rPr lang="en-US" sz="3600" b="0" i="0" kern="1200" dirty="0"/>
            <a:t>This poster introduces </a:t>
          </a:r>
          <a:r>
            <a:rPr lang="en-US" sz="3600" b="0" i="0" kern="1200" dirty="0" err="1"/>
            <a:t>Eyesense</a:t>
          </a:r>
          <a:r>
            <a:rPr lang="en-US" sz="3600" b="0" i="0" kern="1200" dirty="0"/>
            <a:t>, a fatigue and emotion monitoring system featuring an AI Buddy. The goal of this system is to leverage deep learning to perform frequent, individualized assessments of the driver's state through visual cues. By providing timely alerts and feedback, </a:t>
          </a:r>
          <a:r>
            <a:rPr lang="en-US" sz="3600" b="0" i="0" kern="1200" dirty="0" err="1"/>
            <a:t>Eyesense</a:t>
          </a:r>
          <a:r>
            <a:rPr lang="en-US" sz="3600" b="0" i="0" kern="1200" dirty="0"/>
            <a:t> aims to reduce the incidence of accidents caused by impaired driver states.</a:t>
          </a:r>
        </a:p>
        <a:p>
          <a:pPr marL="0" lvl="0" indent="-285750" algn="just" defTabSz="3656758">
            <a:lnSpc>
              <a:spcPct val="90000"/>
            </a:lnSpc>
            <a:spcBef>
              <a:spcPct val="0"/>
            </a:spcBef>
            <a:spcAft>
              <a:spcPct val="20000"/>
            </a:spcAft>
            <a:buNone/>
          </a:pPr>
          <a:r>
            <a:rPr lang="en-US" sz="3600" kern="1200" dirty="0">
              <a:solidFill>
                <a:srgbClr val="000000"/>
              </a:solidFill>
              <a:latin typeface="+mn-lt"/>
              <a:ea typeface="Average"/>
              <a:cs typeface="Average"/>
              <a:sym typeface="Average"/>
            </a:rPr>
            <a:t>Research question: Can we develop a free and reliable AI</a:t>
          </a:r>
          <a:r>
            <a:rPr lang="en-US" sz="3600" kern="1200" dirty="0">
              <a:latin typeface="+mn-lt"/>
              <a:ea typeface="Average"/>
              <a:cs typeface="Average"/>
              <a:sym typeface="Average"/>
            </a:rPr>
            <a:t>-</a:t>
          </a:r>
          <a:r>
            <a:rPr lang="en-US" sz="3600" kern="1200" dirty="0">
              <a:solidFill>
                <a:srgbClr val="000000"/>
              </a:solidFill>
              <a:latin typeface="+mn-lt"/>
              <a:ea typeface="Average"/>
              <a:cs typeface="Average"/>
              <a:sym typeface="Average"/>
            </a:rPr>
            <a:t>based </a:t>
          </a:r>
          <a:r>
            <a:rPr lang="en-US" sz="3600" kern="1200" dirty="0">
              <a:latin typeface="+mn-lt"/>
              <a:ea typeface="Average"/>
              <a:cs typeface="Average"/>
              <a:sym typeface="Average"/>
            </a:rPr>
            <a:t>a</a:t>
          </a:r>
          <a:r>
            <a:rPr lang="en-US" sz="3600" kern="1200" dirty="0">
              <a:solidFill>
                <a:srgbClr val="000000"/>
              </a:solidFill>
              <a:latin typeface="+mn-lt"/>
              <a:ea typeface="Average"/>
              <a:cs typeface="Average"/>
              <a:sym typeface="Average"/>
            </a:rPr>
            <a:t>pp to detect driver’s drowsiness? </a:t>
          </a:r>
          <a:endParaRPr lang="en-US" sz="3600" kern="1200" dirty="0">
            <a:solidFill>
              <a:srgbClr val="374151"/>
            </a:solidFill>
            <a:latin typeface="+mn-lt"/>
            <a:ea typeface="Average"/>
            <a:cs typeface="Average"/>
            <a:sym typeface="Average"/>
          </a:endParaRPr>
        </a:p>
      </dsp:txBody>
      <dsp:txXfrm>
        <a:off x="0" y="0"/>
        <a:ext cx="14365119" cy="530237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DC83BB-0E9B-41E2-9A27-181BF06FA25B}" type="datetimeFigureOut">
              <a:rPr lang="en-US" smtClean="0"/>
              <a:t>1/16/2026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B0CAEB-B77D-43AD-B6E3-BEABCD4FB7EC}" type="slidenum">
              <a:rPr lang="en-US" smtClean="0"/>
              <a:t>‹#›</a:t>
            </a:fld>
            <a:endParaRPr lang="en-US"/>
          </a:p>
        </p:txBody>
      </p:sp>
    </p:spTree>
    <p:extLst>
      <p:ext uri="{BB962C8B-B14F-4D97-AF65-F5344CB8AC3E}">
        <p14:creationId xmlns:p14="http://schemas.microsoft.com/office/powerpoint/2010/main" val="2842598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B0CAEB-B77D-43AD-B6E3-BEABCD4FB7EC}" type="slidenum">
              <a:rPr lang="en-US" smtClean="0"/>
              <a:t>1</a:t>
            </a:fld>
            <a:endParaRPr lang="en-US"/>
          </a:p>
        </p:txBody>
      </p:sp>
    </p:spTree>
    <p:extLst>
      <p:ext uri="{BB962C8B-B14F-4D97-AF65-F5344CB8AC3E}">
        <p14:creationId xmlns:p14="http://schemas.microsoft.com/office/powerpoint/2010/main" val="2732652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58364" y="1170426"/>
            <a:ext cx="31601664" cy="415503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996946" y="5647206"/>
            <a:ext cx="26910792" cy="18726912"/>
          </a:xfrm>
        </p:spPr>
        <p:txBody>
          <a:bodyPr anchor="b">
            <a:normAutofit/>
          </a:bodyPr>
          <a:lstStyle>
            <a:lvl1pPr algn="ctr">
              <a:lnSpc>
                <a:spcPct val="85000"/>
              </a:lnSpc>
              <a:defRPr sz="216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615735" y="24765667"/>
            <a:ext cx="23673222" cy="8884256"/>
          </a:xfrm>
        </p:spPr>
        <p:txBody>
          <a:bodyPr>
            <a:normAutofit/>
          </a:bodyPr>
          <a:lstStyle>
            <a:lvl1pPr marL="0" indent="0" algn="ctr">
              <a:spcBef>
                <a:spcPts val="3600"/>
              </a:spcBef>
              <a:buNone/>
              <a:defRPr sz="6480">
                <a:solidFill>
                  <a:schemeClr val="tx1"/>
                </a:solidFill>
              </a:defRPr>
            </a:lvl1pPr>
            <a:lvl2pPr marL="1234440" indent="0" algn="ctr">
              <a:buNone/>
              <a:defRPr sz="6480"/>
            </a:lvl2pPr>
            <a:lvl3pPr marL="2468880" indent="0" algn="ctr">
              <a:buNone/>
              <a:defRPr sz="6480"/>
            </a:lvl3pPr>
            <a:lvl4pPr marL="3703320" indent="0" algn="ctr">
              <a:buNone/>
              <a:defRPr sz="5400"/>
            </a:lvl4pPr>
            <a:lvl5pPr marL="4937760" indent="0" algn="ctr">
              <a:buNone/>
              <a:defRPr sz="5400"/>
            </a:lvl5pPr>
            <a:lvl6pPr marL="6172200" indent="0" algn="ctr">
              <a:buNone/>
              <a:defRPr sz="5400"/>
            </a:lvl6pPr>
            <a:lvl7pPr marL="7406640" indent="0" algn="ctr">
              <a:buNone/>
              <a:defRPr sz="5400"/>
            </a:lvl7pPr>
            <a:lvl8pPr marL="8641080" indent="0" algn="ctr">
              <a:buNone/>
              <a:defRPr sz="5400"/>
            </a:lvl8pPr>
            <a:lvl9pPr marL="9875520" indent="0" algn="ctr">
              <a:buNone/>
              <a:defRPr sz="5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8037697A-2C48-4819-A5BC-75F43C75A164}" type="datetimeFigureOut">
              <a:rPr lang="en-US" smtClean="0"/>
              <a:pPr/>
              <a:t>1/16/2026</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pPr algn="r"/>
            <a:fld id="{47E06F9A-4543-41A4-9BCA-BFDDC4CB11EA}" type="slidenum">
              <a:rPr lang="en-US" smtClean="0"/>
              <a:pPr algn="r"/>
              <a:t>‹#›</a:t>
            </a:fld>
            <a:endParaRPr lang="en-US" dirty="0"/>
          </a:p>
        </p:txBody>
      </p:sp>
      <p:cxnSp>
        <p:nvCxnSpPr>
          <p:cNvPr id="8" name="Straight Connector 7"/>
          <p:cNvCxnSpPr/>
          <p:nvPr/>
        </p:nvCxnSpPr>
        <p:spPr>
          <a:xfrm>
            <a:off x="5342384" y="23896320"/>
            <a:ext cx="222199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0340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3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37697A-2C48-4819-A5BC-75F43C75A164}" type="datetimeFigureOut">
              <a:rPr lang="en-US" smtClean="0"/>
              <a:pPr/>
              <a:t>1/16/2026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7E06F9A-4543-41A4-9BCA-BFDDC4CB11EA}" type="slidenum">
              <a:rPr lang="en-US" smtClean="0"/>
              <a:pPr/>
              <a:t>‹#›</a:t>
            </a:fld>
            <a:endParaRPr lang="en-US" dirty="0"/>
          </a:p>
        </p:txBody>
      </p:sp>
    </p:spTree>
    <p:extLst>
      <p:ext uri="{BB962C8B-B14F-4D97-AF65-F5344CB8AC3E}">
        <p14:creationId xmlns:p14="http://schemas.microsoft.com/office/powerpoint/2010/main" val="4208965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87345" y="7510880"/>
            <a:ext cx="26910792" cy="18726912"/>
          </a:xfrm>
        </p:spPr>
        <p:txBody>
          <a:bodyPr anchor="b">
            <a:noAutofit/>
          </a:bodyPr>
          <a:lstStyle>
            <a:lvl1pPr algn="ctr">
              <a:lnSpc>
                <a:spcPct val="85000"/>
              </a:lnSpc>
              <a:defRPr sz="216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4616806" y="26588928"/>
            <a:ext cx="23676559" cy="8728358"/>
          </a:xfrm>
        </p:spPr>
        <p:txBody>
          <a:bodyPr anchor="t">
            <a:normAutofit/>
          </a:bodyPr>
          <a:lstStyle>
            <a:lvl1pPr marL="0" indent="0" algn="ctr">
              <a:buNone/>
              <a:defRPr sz="6480">
                <a:solidFill>
                  <a:schemeClr val="tx1"/>
                </a:solidFill>
              </a:defRPr>
            </a:lvl1pPr>
            <a:lvl2pPr marL="1234440" indent="0">
              <a:buNone/>
              <a:defRPr sz="4860">
                <a:solidFill>
                  <a:schemeClr val="tx1">
                    <a:tint val="75000"/>
                  </a:schemeClr>
                </a:solidFill>
              </a:defRPr>
            </a:lvl2pPr>
            <a:lvl3pPr marL="2468880" indent="0">
              <a:buNone/>
              <a:defRPr sz="4320">
                <a:solidFill>
                  <a:schemeClr val="tx1">
                    <a:tint val="75000"/>
                  </a:schemeClr>
                </a:solidFill>
              </a:defRPr>
            </a:lvl3pPr>
            <a:lvl4pPr marL="3703320" indent="0">
              <a:buNone/>
              <a:defRPr sz="3780">
                <a:solidFill>
                  <a:schemeClr val="tx1">
                    <a:tint val="75000"/>
                  </a:schemeClr>
                </a:solidFill>
              </a:defRPr>
            </a:lvl4pPr>
            <a:lvl5pPr marL="4937760" indent="0">
              <a:buNone/>
              <a:defRPr sz="3780">
                <a:solidFill>
                  <a:schemeClr val="tx1">
                    <a:tint val="75000"/>
                  </a:schemeClr>
                </a:solidFill>
              </a:defRPr>
            </a:lvl5pPr>
            <a:lvl6pPr marL="6172200" indent="0">
              <a:buNone/>
              <a:defRPr sz="3780">
                <a:solidFill>
                  <a:schemeClr val="tx1">
                    <a:tint val="75000"/>
                  </a:schemeClr>
                </a:solidFill>
              </a:defRPr>
            </a:lvl6pPr>
            <a:lvl7pPr marL="7406640" indent="0">
              <a:buNone/>
              <a:defRPr sz="3780">
                <a:solidFill>
                  <a:schemeClr val="tx1">
                    <a:tint val="75000"/>
                  </a:schemeClr>
                </a:solidFill>
              </a:defRPr>
            </a:lvl7pPr>
            <a:lvl8pPr marL="8641080" indent="0">
              <a:buNone/>
              <a:defRPr sz="3780">
                <a:solidFill>
                  <a:schemeClr val="tx1">
                    <a:tint val="75000"/>
                  </a:schemeClr>
                </a:solidFill>
              </a:defRPr>
            </a:lvl8pPr>
            <a:lvl9pPr marL="9875520" indent="0">
              <a:buNone/>
              <a:defRPr sz="37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37697A-2C48-4819-A5BC-75F43C75A164}" type="datetimeFigureOut">
              <a:rPr lang="en-US" smtClean="0"/>
              <a:pPr/>
              <a:t>1/16/2026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7E06F9A-4543-41A4-9BCA-BFDDC4CB11EA}" type="slidenum">
              <a:rPr lang="en-US" smtClean="0"/>
              <a:pPr/>
              <a:t>‹#›</a:t>
            </a:fld>
            <a:endParaRPr lang="en-US" dirty="0"/>
          </a:p>
        </p:txBody>
      </p:sp>
      <p:cxnSp>
        <p:nvCxnSpPr>
          <p:cNvPr id="7" name="Straight Connector 6"/>
          <p:cNvCxnSpPr/>
          <p:nvPr/>
        </p:nvCxnSpPr>
        <p:spPr>
          <a:xfrm>
            <a:off x="5349242" y="25730611"/>
            <a:ext cx="222199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036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86100" y="13167354"/>
            <a:ext cx="12838176" cy="25749504"/>
          </a:xfrm>
        </p:spPr>
        <p:txBody>
          <a:bodyPr/>
          <a:lstStyle>
            <a:lvl1pPr>
              <a:defRPr sz="5940"/>
            </a:lvl1pPr>
            <a:lvl2pPr>
              <a:defRPr sz="5400"/>
            </a:lvl2pPr>
            <a:lvl3pPr>
              <a:defRPr sz="4860"/>
            </a:lvl3pPr>
            <a:lvl4pPr>
              <a:defRPr sz="4320"/>
            </a:lvl4pPr>
            <a:lvl5pPr>
              <a:defRPr sz="4320"/>
            </a:lvl5pPr>
            <a:lvl6pPr>
              <a:defRPr sz="4320"/>
            </a:lvl6pPr>
            <a:lvl7pPr>
              <a:defRPr sz="4320"/>
            </a:lvl7pPr>
            <a:lvl8pPr>
              <a:defRPr sz="4320"/>
            </a:lvl8pPr>
            <a:lvl9pPr>
              <a:defRPr sz="4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922552" y="13167360"/>
            <a:ext cx="12838176" cy="25749504"/>
          </a:xfrm>
        </p:spPr>
        <p:txBody>
          <a:bodyPr/>
          <a:lstStyle>
            <a:lvl1pPr>
              <a:defRPr sz="5940"/>
            </a:lvl1pPr>
            <a:lvl2pPr>
              <a:defRPr sz="5400"/>
            </a:lvl2pPr>
            <a:lvl3pPr>
              <a:defRPr sz="4860"/>
            </a:lvl3pPr>
            <a:lvl4pPr>
              <a:defRPr sz="4320"/>
            </a:lvl4pPr>
            <a:lvl5pPr>
              <a:defRPr sz="4320"/>
            </a:lvl5pPr>
            <a:lvl6pPr>
              <a:defRPr sz="4320"/>
            </a:lvl6pPr>
            <a:lvl7pPr>
              <a:defRPr sz="4320"/>
            </a:lvl7pPr>
            <a:lvl8pPr>
              <a:defRPr sz="4320"/>
            </a:lvl8pPr>
            <a:lvl9pPr>
              <a:defRPr sz="4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37697A-2C48-4819-A5BC-75F43C75A164}" type="datetimeFigureOut">
              <a:rPr lang="en-US" smtClean="0"/>
              <a:pPr/>
              <a:t>1/16/2026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7E06F9A-4543-41A4-9BCA-BFDDC4CB11EA}" type="slidenum">
              <a:rPr lang="en-US" smtClean="0"/>
              <a:pPr/>
              <a:t>‹#›</a:t>
            </a:fld>
            <a:endParaRPr lang="en-US" dirty="0"/>
          </a:p>
        </p:txBody>
      </p:sp>
    </p:spTree>
    <p:extLst>
      <p:ext uri="{BB962C8B-B14F-4D97-AF65-F5344CB8AC3E}">
        <p14:creationId xmlns:p14="http://schemas.microsoft.com/office/powerpoint/2010/main" val="2573502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086100" y="12809670"/>
            <a:ext cx="12838176" cy="4974336"/>
          </a:xfrm>
        </p:spPr>
        <p:txBody>
          <a:bodyPr anchor="ctr"/>
          <a:lstStyle>
            <a:lvl1pPr marL="0" indent="0">
              <a:spcBef>
                <a:spcPts val="0"/>
              </a:spcBef>
              <a:buNone/>
              <a:defRPr sz="6480" b="1"/>
            </a:lvl1pPr>
            <a:lvl2pPr marL="1234440" indent="0">
              <a:buNone/>
              <a:defRPr sz="5400" b="1"/>
            </a:lvl2pPr>
            <a:lvl3pPr marL="2468880" indent="0">
              <a:buNone/>
              <a:defRPr sz="4860" b="1"/>
            </a:lvl3pPr>
            <a:lvl4pPr marL="3703320" indent="0">
              <a:buNone/>
              <a:defRPr sz="4320" b="1"/>
            </a:lvl4pPr>
            <a:lvl5pPr marL="4937760" indent="0">
              <a:buNone/>
              <a:defRPr sz="4320" b="1"/>
            </a:lvl5pPr>
            <a:lvl6pPr marL="6172200" indent="0">
              <a:buNone/>
              <a:defRPr sz="4320" b="1"/>
            </a:lvl6pPr>
            <a:lvl7pPr marL="7406640" indent="0">
              <a:buNone/>
              <a:defRPr sz="4320" b="1"/>
            </a:lvl7pPr>
            <a:lvl8pPr marL="8641080" indent="0">
              <a:buNone/>
              <a:defRPr sz="4320" b="1"/>
            </a:lvl8pPr>
            <a:lvl9pPr marL="9875520" indent="0">
              <a:buNone/>
              <a:defRPr sz="4320" b="1"/>
            </a:lvl9pPr>
          </a:lstStyle>
          <a:p>
            <a:pPr lvl="0"/>
            <a:r>
              <a:rPr lang="en-US"/>
              <a:t>Click to edit Master text styles</a:t>
            </a:r>
          </a:p>
        </p:txBody>
      </p:sp>
      <p:sp>
        <p:nvSpPr>
          <p:cNvPr id="4" name="Content Placeholder 3"/>
          <p:cNvSpPr>
            <a:spLocks noGrp="1"/>
          </p:cNvSpPr>
          <p:nvPr>
            <p:ph sz="half" idx="2"/>
          </p:nvPr>
        </p:nvSpPr>
        <p:spPr>
          <a:xfrm>
            <a:off x="3086100" y="17417491"/>
            <a:ext cx="12838176" cy="21652992"/>
          </a:xfrm>
        </p:spPr>
        <p:txBody>
          <a:bodyPr/>
          <a:lstStyle>
            <a:lvl1pPr>
              <a:defRPr sz="5940"/>
            </a:lvl1pPr>
            <a:lvl2pPr>
              <a:defRPr sz="5400"/>
            </a:lvl2pPr>
            <a:lvl3pPr>
              <a:defRPr sz="4860"/>
            </a:lvl3pPr>
            <a:lvl4pPr>
              <a:defRPr sz="4320"/>
            </a:lvl4pPr>
            <a:lvl5pPr>
              <a:defRPr sz="4320"/>
            </a:lvl5pPr>
            <a:lvl6pPr>
              <a:defRPr sz="4320"/>
            </a:lvl6pPr>
            <a:lvl7pPr>
              <a:defRPr sz="4320"/>
            </a:lvl7pPr>
            <a:lvl8pPr>
              <a:defRPr sz="4320"/>
            </a:lvl8pPr>
            <a:lvl9pPr>
              <a:defRPr sz="4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926768" y="12793805"/>
            <a:ext cx="12838176" cy="4974336"/>
          </a:xfrm>
        </p:spPr>
        <p:txBody>
          <a:bodyPr anchor="ctr"/>
          <a:lstStyle>
            <a:lvl1pPr marL="0" indent="0">
              <a:spcBef>
                <a:spcPts val="0"/>
              </a:spcBef>
              <a:buNone/>
              <a:defRPr sz="6480" b="1"/>
            </a:lvl1pPr>
            <a:lvl2pPr marL="1234440" indent="0">
              <a:buNone/>
              <a:defRPr sz="5400" b="1"/>
            </a:lvl2pPr>
            <a:lvl3pPr marL="2468880" indent="0">
              <a:buNone/>
              <a:defRPr sz="4860" b="1"/>
            </a:lvl3pPr>
            <a:lvl4pPr marL="3703320" indent="0">
              <a:buNone/>
              <a:defRPr sz="4320" b="1"/>
            </a:lvl4pPr>
            <a:lvl5pPr marL="4937760" indent="0">
              <a:buNone/>
              <a:defRPr sz="4320" b="1"/>
            </a:lvl5pPr>
            <a:lvl6pPr marL="6172200" indent="0">
              <a:buNone/>
              <a:defRPr sz="4320" b="1"/>
            </a:lvl6pPr>
            <a:lvl7pPr marL="7406640" indent="0">
              <a:buNone/>
              <a:defRPr sz="4320" b="1"/>
            </a:lvl7pPr>
            <a:lvl8pPr marL="8641080" indent="0">
              <a:buNone/>
              <a:defRPr sz="4320" b="1"/>
            </a:lvl8pPr>
            <a:lvl9pPr marL="9875520" indent="0">
              <a:buNone/>
              <a:defRPr sz="4320" b="1"/>
            </a:lvl9pPr>
          </a:lstStyle>
          <a:p>
            <a:pPr lvl="0"/>
            <a:r>
              <a:rPr lang="en-US"/>
              <a:t>Click to edit Master text styles</a:t>
            </a:r>
          </a:p>
        </p:txBody>
      </p:sp>
      <p:sp>
        <p:nvSpPr>
          <p:cNvPr id="6" name="Content Placeholder 5"/>
          <p:cNvSpPr>
            <a:spLocks noGrp="1"/>
          </p:cNvSpPr>
          <p:nvPr>
            <p:ph sz="quarter" idx="4"/>
          </p:nvPr>
        </p:nvSpPr>
        <p:spPr>
          <a:xfrm>
            <a:off x="16926768" y="17403661"/>
            <a:ext cx="12838176" cy="21652992"/>
          </a:xfrm>
        </p:spPr>
        <p:txBody>
          <a:bodyPr/>
          <a:lstStyle>
            <a:lvl1pPr>
              <a:defRPr sz="5940"/>
            </a:lvl1pPr>
            <a:lvl2pPr>
              <a:defRPr sz="5400"/>
            </a:lvl2pPr>
            <a:lvl3pPr>
              <a:defRPr sz="4860"/>
            </a:lvl3pPr>
            <a:lvl4pPr>
              <a:defRPr sz="4320"/>
            </a:lvl4pPr>
            <a:lvl5pPr>
              <a:defRPr sz="4320"/>
            </a:lvl5pPr>
            <a:lvl6pPr>
              <a:defRPr sz="4320"/>
            </a:lvl6pPr>
            <a:lvl7pPr>
              <a:defRPr sz="4320"/>
            </a:lvl7pPr>
            <a:lvl8pPr>
              <a:defRPr sz="4320"/>
            </a:lvl8pPr>
            <a:lvl9pPr>
              <a:defRPr sz="4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37697A-2C48-4819-A5BC-75F43C75A164}" type="datetimeFigureOut">
              <a:rPr lang="en-US" smtClean="0"/>
              <a:pPr/>
              <a:t>1/16/2026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7E06F9A-4543-41A4-9BCA-BFDDC4CB11EA}" type="slidenum">
              <a:rPr lang="en-US" smtClean="0"/>
              <a:pPr/>
              <a:t>‹#›</a:t>
            </a:fld>
            <a:endParaRPr lang="en-US" dirty="0"/>
          </a:p>
        </p:txBody>
      </p:sp>
    </p:spTree>
    <p:extLst>
      <p:ext uri="{BB962C8B-B14F-4D97-AF65-F5344CB8AC3E}">
        <p14:creationId xmlns:p14="http://schemas.microsoft.com/office/powerpoint/2010/main" val="3195909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37697A-2C48-4819-A5BC-75F43C75A164}" type="datetimeFigureOut">
              <a:rPr lang="en-US" smtClean="0"/>
              <a:pPr/>
              <a:t>1/16/2026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7E06F9A-4543-41A4-9BCA-BFDDC4CB11EA}" type="slidenum">
              <a:rPr lang="en-US" smtClean="0"/>
              <a:pPr/>
              <a:t>‹#›</a:t>
            </a:fld>
            <a:endParaRPr lang="en-US" dirty="0"/>
          </a:p>
        </p:txBody>
      </p:sp>
    </p:spTree>
    <p:extLst>
      <p:ext uri="{BB962C8B-B14F-4D97-AF65-F5344CB8AC3E}">
        <p14:creationId xmlns:p14="http://schemas.microsoft.com/office/powerpoint/2010/main" val="3570473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37697A-2C48-4819-A5BC-75F43C75A164}" type="datetimeFigureOut">
              <a:rPr lang="en-US" smtClean="0"/>
              <a:pPr/>
              <a:t>1/16/2026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7E06F9A-4543-41A4-9BCA-BFDDC4CB11EA}" type="slidenum">
              <a:rPr lang="en-US" smtClean="0"/>
              <a:pPr/>
              <a:t>‹#›</a:t>
            </a:fld>
            <a:endParaRPr lang="en-US" dirty="0"/>
          </a:p>
        </p:txBody>
      </p:sp>
    </p:spTree>
    <p:extLst>
      <p:ext uri="{BB962C8B-B14F-4D97-AF65-F5344CB8AC3E}">
        <p14:creationId xmlns:p14="http://schemas.microsoft.com/office/powerpoint/2010/main" val="187336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86100" y="7022592"/>
            <a:ext cx="10204704" cy="11119104"/>
          </a:xfrm>
        </p:spPr>
        <p:txBody>
          <a:bodyPr anchor="b">
            <a:noAutofit/>
          </a:bodyPr>
          <a:lstStyle>
            <a:lvl1pPr>
              <a:lnSpc>
                <a:spcPct val="90000"/>
              </a:lnSpc>
              <a:defRPr sz="10800" b="0"/>
            </a:lvl1pPr>
          </a:lstStyle>
          <a:p>
            <a:r>
              <a:rPr lang="en-US"/>
              <a:t>Click to edit Master title style</a:t>
            </a:r>
            <a:endParaRPr lang="en-US" dirty="0"/>
          </a:p>
        </p:txBody>
      </p:sp>
      <p:sp>
        <p:nvSpPr>
          <p:cNvPr id="3" name="Content Placeholder 2"/>
          <p:cNvSpPr>
            <a:spLocks noGrp="1"/>
          </p:cNvSpPr>
          <p:nvPr>
            <p:ph idx="1"/>
          </p:nvPr>
        </p:nvSpPr>
        <p:spPr>
          <a:xfrm>
            <a:off x="14865530" y="7022592"/>
            <a:ext cx="14938697" cy="29846016"/>
          </a:xfrm>
        </p:spPr>
        <p:txBody>
          <a:bodyPr/>
          <a:lstStyle>
            <a:lvl1pPr>
              <a:defRPr sz="8640"/>
            </a:lvl1pPr>
            <a:lvl2pPr>
              <a:defRPr sz="7560"/>
            </a:lvl2pPr>
            <a:lvl3pPr>
              <a:defRPr sz="6480"/>
            </a:lvl3pPr>
            <a:lvl4pPr>
              <a:defRPr sz="5400"/>
            </a:lvl4pPr>
            <a:lvl5pPr>
              <a:defRPr sz="5400"/>
            </a:lvl5pPr>
            <a:lvl6pPr>
              <a:defRPr sz="5400"/>
            </a:lvl6pPr>
            <a:lvl7pPr>
              <a:defRPr sz="5400"/>
            </a:lvl7pPr>
            <a:lvl8pPr>
              <a:defRPr sz="5400"/>
            </a:lvl8pPr>
            <a:lvl9pPr>
              <a:defRPr sz="5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86100" y="18141696"/>
            <a:ext cx="10204704" cy="18726912"/>
          </a:xfrm>
        </p:spPr>
        <p:txBody>
          <a:bodyPr>
            <a:normAutofit/>
          </a:bodyPr>
          <a:lstStyle>
            <a:lvl1pPr marL="0" indent="0">
              <a:lnSpc>
                <a:spcPct val="100000"/>
              </a:lnSpc>
              <a:spcBef>
                <a:spcPts val="2880"/>
              </a:spcBef>
              <a:buNone/>
              <a:defRPr sz="4590"/>
            </a:lvl1pPr>
            <a:lvl2pPr marL="1234440" indent="0">
              <a:buNone/>
              <a:defRPr sz="3240"/>
            </a:lvl2pPr>
            <a:lvl3pPr marL="2468880" indent="0">
              <a:buNone/>
              <a:defRPr sz="2700"/>
            </a:lvl3pPr>
            <a:lvl4pPr marL="3703320" indent="0">
              <a:buNone/>
              <a:defRPr sz="2430"/>
            </a:lvl4pPr>
            <a:lvl5pPr marL="4937760" indent="0">
              <a:buNone/>
              <a:defRPr sz="2430"/>
            </a:lvl5pPr>
            <a:lvl6pPr marL="6172200" indent="0">
              <a:buNone/>
              <a:defRPr sz="2430"/>
            </a:lvl6pPr>
            <a:lvl7pPr marL="7406640" indent="0">
              <a:buNone/>
              <a:defRPr sz="2430"/>
            </a:lvl7pPr>
            <a:lvl8pPr marL="8641080" indent="0">
              <a:buNone/>
              <a:defRPr sz="2430"/>
            </a:lvl8pPr>
            <a:lvl9pPr marL="9875520" indent="0">
              <a:buNone/>
              <a:defRPr sz="2430"/>
            </a:lvl9pPr>
          </a:lstStyle>
          <a:p>
            <a:pPr lvl="0"/>
            <a:r>
              <a:rPr lang="en-US"/>
              <a:t>Click to edit Master text styles</a:t>
            </a:r>
          </a:p>
        </p:txBody>
      </p:sp>
      <p:sp>
        <p:nvSpPr>
          <p:cNvPr id="5" name="Date Placeholder 4"/>
          <p:cNvSpPr>
            <a:spLocks noGrp="1"/>
          </p:cNvSpPr>
          <p:nvPr>
            <p:ph type="dt" sz="half" idx="10"/>
          </p:nvPr>
        </p:nvSpPr>
        <p:spPr/>
        <p:txBody>
          <a:bodyPr/>
          <a:lstStyle/>
          <a:p>
            <a:fld id="{8037697A-2C48-4819-A5BC-75F43C75A164}" type="datetimeFigureOut">
              <a:rPr lang="en-US" smtClean="0"/>
              <a:pPr/>
              <a:t>1/16/2026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7E06F9A-4543-41A4-9BCA-BFDDC4CB11EA}" type="slidenum">
              <a:rPr lang="en-US" smtClean="0"/>
              <a:pPr/>
              <a:t>‹#›</a:t>
            </a:fld>
            <a:endParaRPr lang="en-US" dirty="0"/>
          </a:p>
        </p:txBody>
      </p:sp>
    </p:spTree>
    <p:extLst>
      <p:ext uri="{BB962C8B-B14F-4D97-AF65-F5344CB8AC3E}">
        <p14:creationId xmlns:p14="http://schemas.microsoft.com/office/powerpoint/2010/main" val="1295458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86100" y="7022592"/>
            <a:ext cx="10204704" cy="11119104"/>
          </a:xfrm>
        </p:spPr>
        <p:txBody>
          <a:bodyPr anchor="b">
            <a:noAutofit/>
          </a:bodyPr>
          <a:lstStyle>
            <a:lvl1pPr>
              <a:lnSpc>
                <a:spcPct val="90000"/>
              </a:lnSpc>
              <a:defRPr sz="10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4468787" y="6847024"/>
            <a:ext cx="15327731" cy="29728979"/>
          </a:xfrm>
        </p:spPr>
        <p:txBody>
          <a:bodyPr lIns="274320" tIns="182880" anchor="t">
            <a:normAutofit/>
          </a:bodyPr>
          <a:lstStyle>
            <a:lvl1pPr marL="0" indent="0">
              <a:buNone/>
              <a:defRPr sz="7560"/>
            </a:lvl1pPr>
            <a:lvl2pPr marL="1234440" indent="0">
              <a:buNone/>
              <a:defRPr sz="7560"/>
            </a:lvl2pPr>
            <a:lvl3pPr marL="2468880" indent="0">
              <a:buNone/>
              <a:defRPr sz="6480"/>
            </a:lvl3pPr>
            <a:lvl4pPr marL="3703320" indent="0">
              <a:buNone/>
              <a:defRPr sz="5400"/>
            </a:lvl4pPr>
            <a:lvl5pPr marL="4937760" indent="0">
              <a:buNone/>
              <a:defRPr sz="5400"/>
            </a:lvl5pPr>
            <a:lvl6pPr marL="6172200" indent="0">
              <a:buNone/>
              <a:defRPr sz="5400"/>
            </a:lvl6pPr>
            <a:lvl7pPr marL="7406640" indent="0">
              <a:buNone/>
              <a:defRPr sz="5400"/>
            </a:lvl7pPr>
            <a:lvl8pPr marL="8641080" indent="0">
              <a:buNone/>
              <a:defRPr sz="5400"/>
            </a:lvl8pPr>
            <a:lvl9pPr marL="9875520" indent="0">
              <a:buNone/>
              <a:defRPr sz="5400"/>
            </a:lvl9pPr>
          </a:lstStyle>
          <a:p>
            <a:r>
              <a:rPr lang="en-US"/>
              <a:t>Click icon to add picture</a:t>
            </a:r>
            <a:endParaRPr lang="en-US" dirty="0"/>
          </a:p>
        </p:txBody>
      </p:sp>
      <p:sp>
        <p:nvSpPr>
          <p:cNvPr id="4" name="Text Placeholder 3"/>
          <p:cNvSpPr>
            <a:spLocks noGrp="1"/>
          </p:cNvSpPr>
          <p:nvPr>
            <p:ph type="body" sz="half" idx="2"/>
          </p:nvPr>
        </p:nvSpPr>
        <p:spPr>
          <a:xfrm>
            <a:off x="3086100" y="18141696"/>
            <a:ext cx="10204704" cy="18434304"/>
          </a:xfrm>
        </p:spPr>
        <p:txBody>
          <a:bodyPr>
            <a:normAutofit/>
          </a:bodyPr>
          <a:lstStyle>
            <a:lvl1pPr marL="0" indent="0">
              <a:lnSpc>
                <a:spcPct val="100000"/>
              </a:lnSpc>
              <a:spcBef>
                <a:spcPts val="2880"/>
              </a:spcBef>
              <a:buNone/>
              <a:defRPr sz="4590"/>
            </a:lvl1pPr>
            <a:lvl2pPr marL="1234440" indent="0">
              <a:buNone/>
              <a:defRPr sz="3240"/>
            </a:lvl2pPr>
            <a:lvl3pPr marL="2468880" indent="0">
              <a:buNone/>
              <a:defRPr sz="2700"/>
            </a:lvl3pPr>
            <a:lvl4pPr marL="3703320" indent="0">
              <a:buNone/>
              <a:defRPr sz="2430"/>
            </a:lvl4pPr>
            <a:lvl5pPr marL="4937760" indent="0">
              <a:buNone/>
              <a:defRPr sz="2430"/>
            </a:lvl5pPr>
            <a:lvl6pPr marL="6172200" indent="0">
              <a:buNone/>
              <a:defRPr sz="2430"/>
            </a:lvl6pPr>
            <a:lvl7pPr marL="7406640" indent="0">
              <a:buNone/>
              <a:defRPr sz="2430"/>
            </a:lvl7pPr>
            <a:lvl8pPr marL="8641080" indent="0">
              <a:buNone/>
              <a:defRPr sz="2430"/>
            </a:lvl8pPr>
            <a:lvl9pPr marL="9875520" indent="0">
              <a:buNone/>
              <a:defRPr sz="2430"/>
            </a:lvl9pPr>
          </a:lstStyle>
          <a:p>
            <a:pPr lvl="0"/>
            <a:r>
              <a:rPr lang="en-US"/>
              <a:t>Click to edit Master text styles</a:t>
            </a:r>
          </a:p>
        </p:txBody>
      </p:sp>
      <p:sp>
        <p:nvSpPr>
          <p:cNvPr id="5" name="Date Placeholder 4"/>
          <p:cNvSpPr>
            <a:spLocks noGrp="1"/>
          </p:cNvSpPr>
          <p:nvPr>
            <p:ph type="dt" sz="half" idx="10"/>
          </p:nvPr>
        </p:nvSpPr>
        <p:spPr/>
        <p:txBody>
          <a:bodyPr/>
          <a:lstStyle/>
          <a:p>
            <a:fld id="{8037697A-2C48-4819-A5BC-75F43C75A164}" type="datetimeFigureOut">
              <a:rPr lang="en-US" smtClean="0"/>
              <a:pPr/>
              <a:t>1/16/2026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7E06F9A-4543-41A4-9BCA-BFDDC4CB11EA}" type="slidenum">
              <a:rPr lang="en-US" smtClean="0"/>
              <a:pPr/>
              <a:t>‹#›</a:t>
            </a:fld>
            <a:endParaRPr lang="en-US" dirty="0"/>
          </a:p>
        </p:txBody>
      </p:sp>
    </p:spTree>
    <p:extLst>
      <p:ext uri="{BB962C8B-B14F-4D97-AF65-F5344CB8AC3E}">
        <p14:creationId xmlns:p14="http://schemas.microsoft.com/office/powerpoint/2010/main" val="2434114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37697A-2C48-4819-A5BC-75F43C75A164}" type="datetimeFigureOut">
              <a:rPr lang="en-US" smtClean="0"/>
              <a:pPr/>
              <a:t>1/16/2026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7E06F9A-4543-41A4-9BCA-BFDDC4CB11EA}" type="slidenum">
              <a:rPr lang="en-US" smtClean="0"/>
              <a:pPr/>
              <a:t>‹#›</a:t>
            </a:fld>
            <a:endParaRPr lang="en-US" dirty="0"/>
          </a:p>
        </p:txBody>
      </p:sp>
    </p:spTree>
    <p:extLst>
      <p:ext uri="{BB962C8B-B14F-4D97-AF65-F5344CB8AC3E}">
        <p14:creationId xmlns:p14="http://schemas.microsoft.com/office/powerpoint/2010/main" val="2992728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4876800"/>
            <a:ext cx="6275070" cy="346252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86102" y="4876800"/>
            <a:ext cx="20059650" cy="346252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37697A-2C48-4819-A5BC-75F43C75A164}" type="datetimeFigureOut">
              <a:rPr lang="en-US" smtClean="0"/>
              <a:pPr/>
              <a:t>1/16/2026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7E06F9A-4543-41A4-9BCA-BFDDC4CB11EA}" type="slidenum">
              <a:rPr lang="en-US" smtClean="0"/>
              <a:pPr/>
              <a:t>‹#›</a:t>
            </a:fld>
            <a:endParaRPr lang="en-US" dirty="0"/>
          </a:p>
        </p:txBody>
      </p:sp>
    </p:spTree>
    <p:extLst>
      <p:ext uri="{BB962C8B-B14F-4D97-AF65-F5344CB8AC3E}">
        <p14:creationId xmlns:p14="http://schemas.microsoft.com/office/powerpoint/2010/main" val="2317369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658368" y="1170432"/>
            <a:ext cx="31601664" cy="415503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3086100" y="3901440"/>
            <a:ext cx="26663904" cy="868070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86105" y="13167360"/>
            <a:ext cx="26656751" cy="258470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86089" y="39832509"/>
            <a:ext cx="6288502" cy="2336800"/>
          </a:xfrm>
          <a:prstGeom prst="rect">
            <a:avLst/>
          </a:prstGeom>
        </p:spPr>
        <p:txBody>
          <a:bodyPr vert="horz" lIns="91440" tIns="45720" rIns="91440" bIns="45720" rtlCol="0" anchor="ctr"/>
          <a:lstStyle>
            <a:lvl1pPr algn="l">
              <a:defRPr sz="3600">
                <a:solidFill>
                  <a:schemeClr val="tx1"/>
                </a:solidFill>
              </a:defRPr>
            </a:lvl1pPr>
          </a:lstStyle>
          <a:p>
            <a:pPr>
              <a:defRPr sz="1200"/>
            </a:pPr>
            <a:fld id="{8037697A-2C48-4819-A5BC-75F43C75A164}" type="datetimeFigureOut">
              <a:rPr lang="en-US" smtClean="0"/>
              <a:pPr>
                <a:defRPr sz="1200"/>
              </a:pPr>
              <a:t>1/16/2026</a:t>
            </a:fld>
            <a:endParaRPr lang="en-US" b="0" dirty="0">
              <a:solidFill>
                <a:schemeClr val="tx2"/>
              </a:solidFill>
            </a:endParaRPr>
          </a:p>
        </p:txBody>
      </p:sp>
      <p:sp>
        <p:nvSpPr>
          <p:cNvPr id="5" name="Footer Placeholder 4"/>
          <p:cNvSpPr>
            <a:spLocks noGrp="1"/>
          </p:cNvSpPr>
          <p:nvPr>
            <p:ph type="ftr" sz="quarter" idx="3"/>
          </p:nvPr>
        </p:nvSpPr>
        <p:spPr>
          <a:xfrm>
            <a:off x="10662701" y="39832509"/>
            <a:ext cx="12737992" cy="2336800"/>
          </a:xfrm>
          <a:prstGeom prst="rect">
            <a:avLst/>
          </a:prstGeom>
        </p:spPr>
        <p:txBody>
          <a:bodyPr vert="horz" lIns="91440" tIns="45720" rIns="91440" bIns="45720" rtlCol="0" anchor="ctr"/>
          <a:lstStyle>
            <a:lvl1pPr algn="ctr">
              <a:defRPr sz="3600">
                <a:solidFill>
                  <a:schemeClr val="tx1"/>
                </a:solidFill>
              </a:defRPr>
            </a:lvl1pPr>
          </a:lstStyle>
          <a:p>
            <a:pPr>
              <a:defRPr sz="1200"/>
            </a:pPr>
            <a:endParaRPr lang="en-US" b="0" dirty="0">
              <a:solidFill>
                <a:schemeClr val="tx2"/>
              </a:solidFill>
            </a:endParaRPr>
          </a:p>
        </p:txBody>
      </p:sp>
      <p:sp>
        <p:nvSpPr>
          <p:cNvPr id="6" name="Slide Number Placeholder 5"/>
          <p:cNvSpPr>
            <a:spLocks noGrp="1"/>
          </p:cNvSpPr>
          <p:nvPr>
            <p:ph type="sldNum" sz="quarter" idx="4"/>
          </p:nvPr>
        </p:nvSpPr>
        <p:spPr>
          <a:xfrm>
            <a:off x="25189735" y="39832509"/>
            <a:ext cx="4606787" cy="2336800"/>
          </a:xfrm>
          <a:prstGeom prst="rect">
            <a:avLst/>
          </a:prstGeom>
        </p:spPr>
        <p:txBody>
          <a:bodyPr vert="horz" lIns="91440" tIns="45720" rIns="91440" bIns="45720" rtlCol="0" anchor="ctr"/>
          <a:lstStyle>
            <a:lvl1pPr algn="r">
              <a:defRPr sz="3600">
                <a:solidFill>
                  <a:schemeClr val="tx1"/>
                </a:solidFill>
              </a:defRPr>
            </a:lvl1pPr>
          </a:lstStyle>
          <a:p>
            <a:pPr>
              <a:defRPr sz="1200"/>
            </a:pPr>
            <a:fld id="{47E06F9A-4543-41A4-9BCA-BFDDC4CB11EA}" type="slidenum">
              <a:rPr lang="en-US" smtClean="0"/>
              <a:pPr>
                <a:defRPr sz="1200"/>
              </a:pPr>
              <a:t>‹#›</a:t>
            </a:fld>
            <a:endParaRPr lang="en-US" b="0" dirty="0">
              <a:solidFill>
                <a:schemeClr val="tx2"/>
              </a:solidFill>
            </a:endParaRPr>
          </a:p>
        </p:txBody>
      </p:sp>
    </p:spTree>
    <p:extLst>
      <p:ext uri="{BB962C8B-B14F-4D97-AF65-F5344CB8AC3E}">
        <p14:creationId xmlns:p14="http://schemas.microsoft.com/office/powerpoint/2010/main" val="3510667445"/>
      </p:ext>
    </p:extLst>
  </p:cSld>
  <p:clrMap bg1="lt1" tx1="dk1" bg2="lt2" tx2="dk2" accent1="accent1" accent2="accent2" accent3="accent3" accent4="accent4" accent5="accent5" accent6="accent6" hlink="hlink" folHlink="folHlink"/>
  <p:sldLayoutIdLst>
    <p:sldLayoutId id="2147483993" r:id="rId1"/>
    <p:sldLayoutId id="2147483994" r:id="rId2"/>
    <p:sldLayoutId id="2147483995" r:id="rId3"/>
    <p:sldLayoutId id="2147483996" r:id="rId4"/>
    <p:sldLayoutId id="2147483997" r:id="rId5"/>
    <p:sldLayoutId id="2147483998" r:id="rId6"/>
    <p:sldLayoutId id="2147483999" r:id="rId7"/>
    <p:sldLayoutId id="2147484000" r:id="rId8"/>
    <p:sldLayoutId id="2147484001" r:id="rId9"/>
    <p:sldLayoutId id="2147484002" r:id="rId10"/>
    <p:sldLayoutId id="2147484003" r:id="rId11"/>
  </p:sldLayoutIdLst>
  <p:txStyles>
    <p:titleStyle>
      <a:lvl1pPr algn="l" defTabSz="2468880" rtl="0" eaLnBrk="1" latinLnBrk="0" hangingPunct="1">
        <a:lnSpc>
          <a:spcPct val="90000"/>
        </a:lnSpc>
        <a:spcBef>
          <a:spcPct val="0"/>
        </a:spcBef>
        <a:buNone/>
        <a:defRPr sz="14400" kern="1200">
          <a:solidFill>
            <a:schemeClr val="tx1"/>
          </a:solidFill>
          <a:latin typeface="+mj-lt"/>
          <a:ea typeface="+mj-ea"/>
          <a:cs typeface="+mj-cs"/>
        </a:defRPr>
      </a:lvl1pPr>
    </p:titleStyle>
    <p:bodyStyle>
      <a:lvl1pPr marL="617220" indent="-493776" algn="l" defTabSz="2468880" rtl="0" eaLnBrk="1" latinLnBrk="0" hangingPunct="1">
        <a:lnSpc>
          <a:spcPct val="90000"/>
        </a:lnSpc>
        <a:spcBef>
          <a:spcPts val="3600"/>
        </a:spcBef>
        <a:buClr>
          <a:schemeClr val="tx1"/>
        </a:buClr>
        <a:buSzPct val="80000"/>
        <a:buFont typeface="Corbel" pitchFamily="34" charset="0"/>
        <a:buChar char="•"/>
        <a:defRPr sz="7200" kern="1200">
          <a:solidFill>
            <a:schemeClr val="tx1"/>
          </a:solidFill>
          <a:latin typeface="+mn-lt"/>
          <a:ea typeface="+mn-ea"/>
          <a:cs typeface="+mn-cs"/>
        </a:defRPr>
      </a:lvl1pPr>
      <a:lvl2pPr marL="1234440" indent="-493776" algn="l" defTabSz="2468880" rtl="0" eaLnBrk="1" latinLnBrk="0" hangingPunct="1">
        <a:lnSpc>
          <a:spcPct val="90000"/>
        </a:lnSpc>
        <a:spcBef>
          <a:spcPts val="540"/>
        </a:spcBef>
        <a:spcAft>
          <a:spcPts val="1080"/>
        </a:spcAft>
        <a:buClr>
          <a:schemeClr val="tx1"/>
        </a:buClr>
        <a:buSzPct val="80000"/>
        <a:buFont typeface="Corbel" pitchFamily="34" charset="0"/>
        <a:buChar char="•"/>
        <a:defRPr sz="6480" kern="1200">
          <a:solidFill>
            <a:schemeClr val="tx1"/>
          </a:solidFill>
          <a:latin typeface="+mn-lt"/>
          <a:ea typeface="+mn-ea"/>
          <a:cs typeface="+mn-cs"/>
        </a:defRPr>
      </a:lvl2pPr>
      <a:lvl3pPr marL="1975104" indent="-493776" algn="l" defTabSz="2468880" rtl="0" eaLnBrk="1" latinLnBrk="0" hangingPunct="1">
        <a:lnSpc>
          <a:spcPct val="90000"/>
        </a:lnSpc>
        <a:spcBef>
          <a:spcPts val="540"/>
        </a:spcBef>
        <a:spcAft>
          <a:spcPts val="1080"/>
        </a:spcAft>
        <a:buClr>
          <a:schemeClr val="tx1"/>
        </a:buClr>
        <a:buSzPct val="80000"/>
        <a:buFont typeface="Corbel" pitchFamily="34" charset="0"/>
        <a:buChar char="•"/>
        <a:defRPr sz="5760" kern="1200">
          <a:solidFill>
            <a:schemeClr val="tx1"/>
          </a:solidFill>
          <a:latin typeface="+mn-lt"/>
          <a:ea typeface="+mn-ea"/>
          <a:cs typeface="+mn-cs"/>
        </a:defRPr>
      </a:lvl3pPr>
      <a:lvl4pPr marL="2715768" indent="-493776" algn="l" defTabSz="2468880" rtl="0" eaLnBrk="1" latinLnBrk="0" hangingPunct="1">
        <a:lnSpc>
          <a:spcPct val="90000"/>
        </a:lnSpc>
        <a:spcBef>
          <a:spcPts val="540"/>
        </a:spcBef>
        <a:spcAft>
          <a:spcPts val="1080"/>
        </a:spcAft>
        <a:buClr>
          <a:schemeClr val="tx1"/>
        </a:buClr>
        <a:buSzPct val="80000"/>
        <a:buFont typeface="Corbel" pitchFamily="34" charset="0"/>
        <a:buChar char="•"/>
        <a:defRPr sz="5040" kern="1200">
          <a:solidFill>
            <a:schemeClr val="tx1"/>
          </a:solidFill>
          <a:latin typeface="+mn-lt"/>
          <a:ea typeface="+mn-ea"/>
          <a:cs typeface="+mn-cs"/>
        </a:defRPr>
      </a:lvl4pPr>
      <a:lvl5pPr marL="3312432" indent="-493776" algn="l" defTabSz="2468880" rtl="0" eaLnBrk="1" latinLnBrk="0" hangingPunct="1">
        <a:lnSpc>
          <a:spcPct val="90000"/>
        </a:lnSpc>
        <a:spcBef>
          <a:spcPts val="540"/>
        </a:spcBef>
        <a:spcAft>
          <a:spcPts val="1080"/>
        </a:spcAft>
        <a:buClr>
          <a:schemeClr val="tx1"/>
        </a:buClr>
        <a:buSzPct val="80000"/>
        <a:buFont typeface="Corbel" pitchFamily="34" charset="0"/>
        <a:buChar char="•"/>
        <a:defRPr sz="5040" kern="1200">
          <a:solidFill>
            <a:schemeClr val="tx1"/>
          </a:solidFill>
          <a:latin typeface="+mn-lt"/>
          <a:ea typeface="+mn-ea"/>
          <a:cs typeface="+mn-cs"/>
        </a:defRPr>
      </a:lvl5pPr>
      <a:lvl6pPr marL="3960000" indent="-617220" algn="l" defTabSz="2468880" rtl="0" eaLnBrk="1" latinLnBrk="0" hangingPunct="1">
        <a:lnSpc>
          <a:spcPct val="90000"/>
        </a:lnSpc>
        <a:spcBef>
          <a:spcPts val="540"/>
        </a:spcBef>
        <a:spcAft>
          <a:spcPts val="1080"/>
        </a:spcAft>
        <a:buClr>
          <a:schemeClr val="tx1"/>
        </a:buClr>
        <a:buSzPct val="80000"/>
        <a:buFont typeface="Corbel" pitchFamily="34" charset="0"/>
        <a:buChar char="•"/>
        <a:defRPr sz="5040" kern="1200">
          <a:solidFill>
            <a:schemeClr val="tx1"/>
          </a:solidFill>
          <a:latin typeface="+mn-lt"/>
          <a:ea typeface="+mn-ea"/>
          <a:cs typeface="+mn-cs"/>
        </a:defRPr>
      </a:lvl6pPr>
      <a:lvl7pPr marL="4680000" indent="-617220" algn="l" defTabSz="2468880" rtl="0" eaLnBrk="1" latinLnBrk="0" hangingPunct="1">
        <a:lnSpc>
          <a:spcPct val="90000"/>
        </a:lnSpc>
        <a:spcBef>
          <a:spcPts val="540"/>
        </a:spcBef>
        <a:spcAft>
          <a:spcPts val="1080"/>
        </a:spcAft>
        <a:buClr>
          <a:schemeClr val="tx1"/>
        </a:buClr>
        <a:buSzPct val="80000"/>
        <a:buFont typeface="Corbel" pitchFamily="34" charset="0"/>
        <a:buChar char="•"/>
        <a:defRPr sz="5040" kern="1200">
          <a:solidFill>
            <a:schemeClr val="tx1"/>
          </a:solidFill>
          <a:latin typeface="+mn-lt"/>
          <a:ea typeface="+mn-ea"/>
          <a:cs typeface="+mn-cs"/>
        </a:defRPr>
      </a:lvl7pPr>
      <a:lvl8pPr marL="5400000" indent="-617220" algn="l" defTabSz="2468880" rtl="0" eaLnBrk="1" latinLnBrk="0" hangingPunct="1">
        <a:lnSpc>
          <a:spcPct val="90000"/>
        </a:lnSpc>
        <a:spcBef>
          <a:spcPts val="540"/>
        </a:spcBef>
        <a:spcAft>
          <a:spcPts val="1080"/>
        </a:spcAft>
        <a:buClr>
          <a:schemeClr val="tx1"/>
        </a:buClr>
        <a:buSzPct val="80000"/>
        <a:buFont typeface="Corbel" pitchFamily="34" charset="0"/>
        <a:buChar char="•"/>
        <a:defRPr sz="5040" kern="1200">
          <a:solidFill>
            <a:schemeClr val="tx1"/>
          </a:solidFill>
          <a:latin typeface="+mn-lt"/>
          <a:ea typeface="+mn-ea"/>
          <a:cs typeface="+mn-cs"/>
        </a:defRPr>
      </a:lvl8pPr>
      <a:lvl9pPr marL="6120000" indent="-617220" algn="l" defTabSz="2468880" rtl="0" eaLnBrk="1" latinLnBrk="0" hangingPunct="1">
        <a:lnSpc>
          <a:spcPct val="90000"/>
        </a:lnSpc>
        <a:spcBef>
          <a:spcPts val="540"/>
        </a:spcBef>
        <a:spcAft>
          <a:spcPts val="1080"/>
        </a:spcAft>
        <a:buClr>
          <a:schemeClr val="tx1"/>
        </a:buClr>
        <a:buSzPct val="80000"/>
        <a:buFont typeface="Corbel" pitchFamily="34" charset="0"/>
        <a:buChar char="•"/>
        <a:defRPr sz="5040" kern="1200">
          <a:solidFill>
            <a:schemeClr val="tx1"/>
          </a:solidFill>
          <a:latin typeface="+mn-lt"/>
          <a:ea typeface="+mn-ea"/>
          <a:cs typeface="+mn-cs"/>
        </a:defRPr>
      </a:lvl9pPr>
    </p:bodyStyle>
    <p:otherStyle>
      <a:defPPr>
        <a:defRPr lang="en-US"/>
      </a:defPPr>
      <a:lvl1pPr marL="0" algn="l" defTabSz="2468880" rtl="0" eaLnBrk="1" latinLnBrk="0" hangingPunct="1">
        <a:defRPr sz="4860" kern="1200">
          <a:solidFill>
            <a:schemeClr val="tx1"/>
          </a:solidFill>
          <a:latin typeface="+mn-lt"/>
          <a:ea typeface="+mn-ea"/>
          <a:cs typeface="+mn-cs"/>
        </a:defRPr>
      </a:lvl1pPr>
      <a:lvl2pPr marL="1234440" algn="l" defTabSz="2468880" rtl="0" eaLnBrk="1" latinLnBrk="0" hangingPunct="1">
        <a:defRPr sz="4860" kern="1200">
          <a:solidFill>
            <a:schemeClr val="tx1"/>
          </a:solidFill>
          <a:latin typeface="+mn-lt"/>
          <a:ea typeface="+mn-ea"/>
          <a:cs typeface="+mn-cs"/>
        </a:defRPr>
      </a:lvl2pPr>
      <a:lvl3pPr marL="2468880" algn="l" defTabSz="2468880" rtl="0" eaLnBrk="1" latinLnBrk="0" hangingPunct="1">
        <a:defRPr sz="4860" kern="1200">
          <a:solidFill>
            <a:schemeClr val="tx1"/>
          </a:solidFill>
          <a:latin typeface="+mn-lt"/>
          <a:ea typeface="+mn-ea"/>
          <a:cs typeface="+mn-cs"/>
        </a:defRPr>
      </a:lvl3pPr>
      <a:lvl4pPr marL="3703320" algn="l" defTabSz="2468880" rtl="0" eaLnBrk="1" latinLnBrk="0" hangingPunct="1">
        <a:defRPr sz="4860" kern="1200">
          <a:solidFill>
            <a:schemeClr val="tx1"/>
          </a:solidFill>
          <a:latin typeface="+mn-lt"/>
          <a:ea typeface="+mn-ea"/>
          <a:cs typeface="+mn-cs"/>
        </a:defRPr>
      </a:lvl4pPr>
      <a:lvl5pPr marL="4937760" algn="l" defTabSz="2468880" rtl="0" eaLnBrk="1" latinLnBrk="0" hangingPunct="1">
        <a:defRPr sz="4860" kern="1200">
          <a:solidFill>
            <a:schemeClr val="tx1"/>
          </a:solidFill>
          <a:latin typeface="+mn-lt"/>
          <a:ea typeface="+mn-ea"/>
          <a:cs typeface="+mn-cs"/>
        </a:defRPr>
      </a:lvl5pPr>
      <a:lvl6pPr marL="6172200" algn="l" defTabSz="2468880" rtl="0" eaLnBrk="1" latinLnBrk="0" hangingPunct="1">
        <a:defRPr sz="4860" kern="1200">
          <a:solidFill>
            <a:schemeClr val="tx1"/>
          </a:solidFill>
          <a:latin typeface="+mn-lt"/>
          <a:ea typeface="+mn-ea"/>
          <a:cs typeface="+mn-cs"/>
        </a:defRPr>
      </a:lvl6pPr>
      <a:lvl7pPr marL="7406640" algn="l" defTabSz="2468880" rtl="0" eaLnBrk="1" latinLnBrk="0" hangingPunct="1">
        <a:defRPr sz="4860" kern="1200">
          <a:solidFill>
            <a:schemeClr val="tx1"/>
          </a:solidFill>
          <a:latin typeface="+mn-lt"/>
          <a:ea typeface="+mn-ea"/>
          <a:cs typeface="+mn-cs"/>
        </a:defRPr>
      </a:lvl7pPr>
      <a:lvl8pPr marL="8641080" algn="l" defTabSz="2468880" rtl="0" eaLnBrk="1" latinLnBrk="0" hangingPunct="1">
        <a:defRPr sz="4860" kern="1200">
          <a:solidFill>
            <a:schemeClr val="tx1"/>
          </a:solidFill>
          <a:latin typeface="+mn-lt"/>
          <a:ea typeface="+mn-ea"/>
          <a:cs typeface="+mn-cs"/>
        </a:defRPr>
      </a:lvl8pPr>
      <a:lvl9pPr marL="9875520" algn="l" defTabSz="2468880" rtl="0" eaLnBrk="1" latinLnBrk="0" hangingPunct="1">
        <a:defRPr sz="48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openxmlformats.org/officeDocument/2006/relationships/image" Target="../media/image5.png"/><Relationship Id="rId2" Type="http://schemas.openxmlformats.org/officeDocument/2006/relationships/notesSlide" Target="../notesSlides/notesSlide1.xml"/><Relationship Id="rId16"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image" Target="../media/image3.png"/><Relationship Id="rId10" Type="http://schemas.openxmlformats.org/officeDocument/2006/relationships/diagramQuickStyle" Target="../diagrams/quickStyle2.xml"/><Relationship Id="rId19" Type="http://schemas.openxmlformats.org/officeDocument/2006/relationships/image" Target="../media/image7.png"/><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ph type="title"/>
          </p:nvPr>
        </p:nvSpPr>
        <p:spPr>
          <a:xfrm>
            <a:off x="3249882" y="4101000"/>
            <a:ext cx="25070131" cy="4728229"/>
          </a:xfrm>
          <a:effectLst/>
        </p:spPr>
        <p:txBody>
          <a:bodyPr>
            <a:normAutofit fontScale="90000"/>
            <a:scene3d>
              <a:camera prst="orthographicFront"/>
              <a:lightRig rig="soft" dir="t">
                <a:rot lat="0" lon="0" rev="2100000"/>
              </a:lightRig>
            </a:scene3d>
            <a:sp3d prstMaterial="matte"/>
          </a:bodyPr>
          <a:lstStyle/>
          <a:p>
            <a:pPr algn="ctr">
              <a:lnSpc>
                <a:spcPct val="107000"/>
              </a:lnSpc>
              <a:spcBef>
                <a:spcPts val="0"/>
              </a:spcBef>
              <a:spcAft>
                <a:spcPts val="587"/>
              </a:spcAft>
            </a:pPr>
            <a:r>
              <a:rPr lang="en-US" sz="9800" b="1" dirty="0" err="1"/>
              <a:t>Eyesense</a:t>
            </a:r>
            <a:r>
              <a:rPr lang="en-US" sz="9800" b="1" dirty="0"/>
              <a:t>: An AI-Powered Solution for Driver Safety</a:t>
            </a:r>
            <a:br>
              <a:rPr lang="en-US" sz="7043" b="1" dirty="0"/>
            </a:br>
            <a:br>
              <a:rPr lang="en-US" sz="2641" dirty="0">
                <a:latin typeface="Times New Roman" panose="02020603050405020304" pitchFamily="18" charset="0"/>
                <a:ea typeface="Calibri" panose="020F0502020204030204" pitchFamily="34" charset="0"/>
                <a:cs typeface="Times New Roman" panose="02020603050405020304" pitchFamily="18" charset="0"/>
              </a:rPr>
            </a:br>
            <a:r>
              <a:rPr lang="en-US" sz="2641" dirty="0">
                <a:latin typeface="Times New Roman" panose="02020603050405020304" pitchFamily="18" charset="0"/>
                <a:ea typeface="Calibri" panose="020F0502020204030204" pitchFamily="34" charset="0"/>
                <a:cs typeface="Times New Roman" panose="02020603050405020304" pitchFamily="18" charset="0"/>
              </a:rPr>
              <a:t>Andy Li</a:t>
            </a:r>
            <a:br>
              <a:rPr lang="en-US" sz="2641" dirty="0">
                <a:latin typeface="Times New Roman" panose="02020603050405020304" pitchFamily="18" charset="0"/>
                <a:ea typeface="Calibri" panose="020F0502020204030204" pitchFamily="34" charset="0"/>
                <a:cs typeface="Times New Roman" panose="02020603050405020304" pitchFamily="18" charset="0"/>
              </a:rPr>
            </a:br>
            <a:r>
              <a:rPr lang="en-US" sz="2641" dirty="0">
                <a:latin typeface="Times New Roman" panose="02020603050405020304" pitchFamily="18" charset="0"/>
                <a:ea typeface="Calibri" panose="020F0502020204030204" pitchFamily="34" charset="0"/>
                <a:cs typeface="Times New Roman" panose="02020603050405020304" pitchFamily="18" charset="0"/>
              </a:rPr>
              <a:t>Langley High School</a:t>
            </a:r>
            <a:br>
              <a:rPr lang="en-US" sz="2641" dirty="0">
                <a:latin typeface="Times New Roman" panose="02020603050405020304" pitchFamily="18" charset="0"/>
                <a:ea typeface="Calibri" panose="020F0502020204030204" pitchFamily="34"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6520 Georgetown Pike, McLean, VA 22101</a:t>
            </a:r>
            <a:br>
              <a:rPr lang="en-US" sz="2700" dirty="0">
                <a:latin typeface="Times New Roman" panose="02020603050405020304" pitchFamily="18" charset="0"/>
                <a:ea typeface="Calibri" panose="020F0502020204030204" pitchFamily="34" charset="0"/>
                <a:cs typeface="Times New Roman" panose="02020603050405020304" pitchFamily="18" charset="0"/>
              </a:rPr>
            </a:br>
            <a:br>
              <a:rPr lang="en-US" sz="2949" i="1" dirty="0">
                <a:latin typeface="Arial" charset="0"/>
              </a:rPr>
            </a:br>
            <a:br>
              <a:rPr lang="en-US" sz="2375" dirty="0">
                <a:latin typeface="Arial" charset="0"/>
              </a:rPr>
            </a:br>
            <a:endParaRPr lang="en-US" sz="2375" dirty="0">
              <a:latin typeface="Arial" pitchFamily="34" charset="0"/>
              <a:cs typeface="Arial" pitchFamily="34" charset="0"/>
            </a:endParaRPr>
          </a:p>
        </p:txBody>
      </p:sp>
      <p:graphicFrame>
        <p:nvGraphicFramePr>
          <p:cNvPr id="20" name="Content Placeholder 19"/>
          <p:cNvGraphicFramePr>
            <a:graphicFrameLocks noGrp="1"/>
          </p:cNvGraphicFramePr>
          <p:nvPr>
            <p:ph sz="half" idx="1"/>
            <p:extLst>
              <p:ext uri="{D42A27DB-BD31-4B8C-83A1-F6EECF244321}">
                <p14:modId xmlns:p14="http://schemas.microsoft.com/office/powerpoint/2010/main" val="283855574"/>
              </p:ext>
            </p:extLst>
          </p:nvPr>
        </p:nvGraphicFramePr>
        <p:xfrm>
          <a:off x="791718" y="9877441"/>
          <a:ext cx="14622237" cy="77865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1" name="Group 10"/>
          <p:cNvGrpSpPr/>
          <p:nvPr/>
        </p:nvGrpSpPr>
        <p:grpSpPr>
          <a:xfrm>
            <a:off x="17297400" y="16764000"/>
            <a:ext cx="9608809" cy="1198018"/>
            <a:chOff x="0" y="45787"/>
            <a:chExt cx="10529262" cy="1463085"/>
          </a:xfrm>
          <a:solidFill>
            <a:schemeClr val="bg2"/>
          </a:solidFill>
          <a:scene3d>
            <a:camera prst="orthographicFront"/>
            <a:lightRig rig="flat" dir="t"/>
          </a:scene3d>
        </p:grpSpPr>
        <p:sp>
          <p:nvSpPr>
            <p:cNvPr id="14" name="Rounded Rectangle 13"/>
            <p:cNvSpPr/>
            <p:nvPr/>
          </p:nvSpPr>
          <p:spPr>
            <a:xfrm>
              <a:off x="0" y="45787"/>
              <a:ext cx="10529262" cy="1463085"/>
            </a:xfrm>
            <a:prstGeom prst="roundRect">
              <a:avLst/>
            </a:prstGeom>
            <a:grpFill/>
            <a:sp3d prstMaterial="dkEdge">
              <a:bevelT w="8200" h="38100"/>
            </a:sp3d>
          </p:spPr>
          <p:style>
            <a:lnRef idx="0">
              <a:schemeClr val="lt1">
                <a:hueOff val="0"/>
                <a:satOff val="0"/>
                <a:lumOff val="0"/>
                <a:alphaOff val="0"/>
              </a:schemeClr>
            </a:lnRef>
            <a:fillRef idx="2">
              <a:schemeClr val="accent4">
                <a:shade val="80000"/>
                <a:hueOff val="0"/>
                <a:satOff val="0"/>
                <a:lumOff val="0"/>
                <a:alphaOff val="0"/>
              </a:schemeClr>
            </a:fillRef>
            <a:effectRef idx="1">
              <a:schemeClr val="accent4">
                <a:shade val="80000"/>
                <a:hueOff val="0"/>
                <a:satOff val="0"/>
                <a:lumOff val="0"/>
                <a:alphaOff val="0"/>
              </a:schemeClr>
            </a:effectRef>
            <a:fontRef idx="minor">
              <a:schemeClr val="dk1"/>
            </a:fontRef>
          </p:style>
          <p:txBody>
            <a:bodyPr/>
            <a:lstStyle/>
            <a:p>
              <a:endParaRPr lang="en-US" sz="1336"/>
            </a:p>
          </p:txBody>
        </p:sp>
        <p:sp>
          <p:nvSpPr>
            <p:cNvPr id="15" name="Rounded Rectangle 4"/>
            <p:cNvSpPr/>
            <p:nvPr/>
          </p:nvSpPr>
          <p:spPr>
            <a:xfrm>
              <a:off x="71422" y="117209"/>
              <a:ext cx="10389469" cy="1320241"/>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190304" tIns="190304" rIns="190304" bIns="190304" numCol="1" spcCol="1270" anchor="ctr" anchorCtr="0">
              <a:noAutofit/>
            </a:bodyPr>
            <a:lstStyle/>
            <a:p>
              <a:pPr defTabSz="2219847">
                <a:lnSpc>
                  <a:spcPct val="90000"/>
                </a:lnSpc>
                <a:spcBef>
                  <a:spcPct val="0"/>
                </a:spcBef>
                <a:spcAft>
                  <a:spcPct val="35000"/>
                </a:spcAft>
              </a:pPr>
              <a:r>
                <a:rPr lang="en-US" sz="5159" dirty="0"/>
                <a:t>Experimental Results </a:t>
              </a:r>
            </a:p>
          </p:txBody>
        </p:sp>
      </p:grpSp>
      <p:sp>
        <p:nvSpPr>
          <p:cNvPr id="36" name="Rectangle 35"/>
          <p:cNvSpPr/>
          <p:nvPr/>
        </p:nvSpPr>
        <p:spPr>
          <a:xfrm>
            <a:off x="17017125" y="22861016"/>
            <a:ext cx="14629394" cy="1903782"/>
          </a:xfrm>
          <a:prstGeom prst="rect">
            <a:avLst/>
          </a:prstGeom>
        </p:spPr>
        <p:txBody>
          <a:bodyPr wrap="square" lIns="74857" tIns="37429" rIns="74857" bIns="37429">
            <a:spAutoFit/>
          </a:bodyPr>
          <a:lstStyle/>
          <a:p>
            <a:pPr indent="-209617" algn="just" defTabSz="2682482">
              <a:lnSpc>
                <a:spcPct val="90000"/>
              </a:lnSpc>
              <a:spcBef>
                <a:spcPct val="0"/>
              </a:spcBef>
              <a:spcAft>
                <a:spcPct val="20000"/>
              </a:spcAft>
            </a:pPr>
            <a:r>
              <a:rPr lang="en-US" sz="4400" dirty="0" err="1">
                <a:solidFill>
                  <a:srgbClr val="000000"/>
                </a:solidFill>
                <a:latin typeface="Corbel" panose="020B0503020204020204"/>
              </a:rPr>
              <a:t>Mobilenet</a:t>
            </a:r>
            <a:r>
              <a:rPr lang="en-US" sz="4400" dirty="0">
                <a:solidFill>
                  <a:srgbClr val="000000"/>
                </a:solidFill>
                <a:latin typeface="Corbel" panose="020B0503020204020204"/>
              </a:rPr>
              <a:t> was trained to classify non-drowsiness and drowsiness  images. MIT App inventor was used to develop the mobile App.</a:t>
            </a:r>
          </a:p>
        </p:txBody>
      </p:sp>
      <p:grpSp>
        <p:nvGrpSpPr>
          <p:cNvPr id="73" name="Group 72"/>
          <p:cNvGrpSpPr/>
          <p:nvPr/>
        </p:nvGrpSpPr>
        <p:grpSpPr>
          <a:xfrm>
            <a:off x="1272046" y="8403182"/>
            <a:ext cx="9608809" cy="1198018"/>
            <a:chOff x="0" y="45787"/>
            <a:chExt cx="10529262" cy="1463085"/>
          </a:xfrm>
          <a:scene3d>
            <a:camera prst="orthographicFront"/>
            <a:lightRig rig="flat" dir="t"/>
          </a:scene3d>
        </p:grpSpPr>
        <p:sp>
          <p:nvSpPr>
            <p:cNvPr id="74" name="Rounded Rectangle 73"/>
            <p:cNvSpPr/>
            <p:nvPr/>
          </p:nvSpPr>
          <p:spPr>
            <a:xfrm>
              <a:off x="0" y="45787"/>
              <a:ext cx="10529262" cy="1463085"/>
            </a:xfrm>
            <a:prstGeom prst="roundRect">
              <a:avLst/>
            </a:prstGeom>
            <a:solidFill>
              <a:schemeClr val="bg2"/>
            </a:solidFill>
            <a:sp3d prstMaterial="dkEdge">
              <a:bevelT w="8200" h="38100"/>
            </a:sp3d>
          </p:spPr>
          <p:style>
            <a:lnRef idx="0">
              <a:schemeClr val="lt1">
                <a:hueOff val="0"/>
                <a:satOff val="0"/>
                <a:lumOff val="0"/>
                <a:alphaOff val="0"/>
              </a:schemeClr>
            </a:lnRef>
            <a:fillRef idx="2">
              <a:schemeClr val="accent4">
                <a:shade val="80000"/>
                <a:hueOff val="0"/>
                <a:satOff val="0"/>
                <a:lumOff val="0"/>
                <a:alphaOff val="0"/>
              </a:schemeClr>
            </a:fillRef>
            <a:effectRef idx="1">
              <a:schemeClr val="accent4">
                <a:shade val="80000"/>
                <a:hueOff val="0"/>
                <a:satOff val="0"/>
                <a:lumOff val="0"/>
                <a:alphaOff val="0"/>
              </a:schemeClr>
            </a:effectRef>
            <a:fontRef idx="minor">
              <a:schemeClr val="dk1"/>
            </a:fontRef>
          </p:style>
          <p:txBody>
            <a:bodyPr/>
            <a:lstStyle/>
            <a:p>
              <a:endParaRPr lang="en-US" sz="6457" dirty="0"/>
            </a:p>
          </p:txBody>
        </p:sp>
        <p:sp>
          <p:nvSpPr>
            <p:cNvPr id="75" name="Rounded Rectangle 4"/>
            <p:cNvSpPr/>
            <p:nvPr/>
          </p:nvSpPr>
          <p:spPr>
            <a:xfrm>
              <a:off x="126272" y="117209"/>
              <a:ext cx="9388010" cy="1320241"/>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90304" tIns="190304" rIns="190304" bIns="190304" numCol="1" spcCol="1270" anchor="ctr" anchorCtr="0">
              <a:noAutofit/>
            </a:bodyPr>
            <a:lstStyle/>
            <a:p>
              <a:pPr defTabSz="2219847">
                <a:lnSpc>
                  <a:spcPct val="90000"/>
                </a:lnSpc>
                <a:spcBef>
                  <a:spcPct val="0"/>
                </a:spcBef>
                <a:spcAft>
                  <a:spcPct val="35000"/>
                </a:spcAft>
              </a:pPr>
              <a:r>
                <a:rPr lang="en-US" sz="5159" dirty="0"/>
                <a:t>Abstract </a:t>
              </a:r>
            </a:p>
          </p:txBody>
        </p:sp>
      </p:grpSp>
      <p:grpSp>
        <p:nvGrpSpPr>
          <p:cNvPr id="12" name="Group 11">
            <a:extLst>
              <a:ext uri="{FF2B5EF4-FFF2-40B4-BE49-F238E27FC236}">
                <a16:creationId xmlns:a16="http://schemas.microsoft.com/office/drawing/2014/main" id="{E8B9E371-4A68-EBE8-8858-0823AA265240}"/>
              </a:ext>
            </a:extLst>
          </p:cNvPr>
          <p:cNvGrpSpPr/>
          <p:nvPr/>
        </p:nvGrpSpPr>
        <p:grpSpPr>
          <a:xfrm>
            <a:off x="17298407" y="8382000"/>
            <a:ext cx="9608809" cy="1089107"/>
            <a:chOff x="0" y="45787"/>
            <a:chExt cx="10529262" cy="1463085"/>
          </a:xfrm>
          <a:scene3d>
            <a:camera prst="orthographicFront"/>
            <a:lightRig rig="flat" dir="t"/>
          </a:scene3d>
        </p:grpSpPr>
        <p:sp>
          <p:nvSpPr>
            <p:cNvPr id="16" name="Rounded Rectangle 29">
              <a:extLst>
                <a:ext uri="{FF2B5EF4-FFF2-40B4-BE49-F238E27FC236}">
                  <a16:creationId xmlns:a16="http://schemas.microsoft.com/office/drawing/2014/main" id="{817B0BC3-0DCA-0733-618F-78B7F694649D}"/>
                </a:ext>
              </a:extLst>
            </p:cNvPr>
            <p:cNvSpPr/>
            <p:nvPr/>
          </p:nvSpPr>
          <p:spPr>
            <a:xfrm>
              <a:off x="0" y="45787"/>
              <a:ext cx="10529262" cy="1463085"/>
            </a:xfrm>
            <a:prstGeom prst="roundRect">
              <a:avLst/>
            </a:prstGeom>
            <a:solidFill>
              <a:schemeClr val="bg2"/>
            </a:solidFill>
            <a:sp3d prstMaterial="dkEdge">
              <a:bevelT w="8200" h="38100"/>
            </a:sp3d>
          </p:spPr>
          <p:style>
            <a:lnRef idx="0">
              <a:schemeClr val="lt1">
                <a:hueOff val="0"/>
                <a:satOff val="0"/>
                <a:lumOff val="0"/>
                <a:alphaOff val="0"/>
              </a:schemeClr>
            </a:lnRef>
            <a:fillRef idx="2">
              <a:schemeClr val="accent4">
                <a:shade val="80000"/>
                <a:hueOff val="0"/>
                <a:satOff val="0"/>
                <a:lumOff val="0"/>
                <a:alphaOff val="0"/>
              </a:schemeClr>
            </a:fillRef>
            <a:effectRef idx="1">
              <a:schemeClr val="accent4">
                <a:shade val="80000"/>
                <a:hueOff val="0"/>
                <a:satOff val="0"/>
                <a:lumOff val="0"/>
                <a:alphaOff val="0"/>
              </a:schemeClr>
            </a:effectRef>
            <a:fontRef idx="minor">
              <a:schemeClr val="dk1"/>
            </a:fontRef>
          </p:style>
          <p:txBody>
            <a:bodyPr/>
            <a:lstStyle/>
            <a:p>
              <a:endParaRPr lang="en-US" sz="1336"/>
            </a:p>
          </p:txBody>
        </p:sp>
        <p:sp>
          <p:nvSpPr>
            <p:cNvPr id="17" name="Rounded Rectangle 4">
              <a:extLst>
                <a:ext uri="{FF2B5EF4-FFF2-40B4-BE49-F238E27FC236}">
                  <a16:creationId xmlns:a16="http://schemas.microsoft.com/office/drawing/2014/main" id="{4663605C-6CD6-466C-B02D-EB6C908CE96A}"/>
                </a:ext>
              </a:extLst>
            </p:cNvPr>
            <p:cNvSpPr/>
            <p:nvPr/>
          </p:nvSpPr>
          <p:spPr>
            <a:xfrm>
              <a:off x="71422" y="117209"/>
              <a:ext cx="9388010" cy="1320241"/>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90304" tIns="190304" rIns="190304" bIns="190304" numCol="1" spcCol="1270" anchor="ctr" anchorCtr="0">
              <a:noAutofit/>
            </a:bodyPr>
            <a:lstStyle/>
            <a:p>
              <a:pPr defTabSz="2219847">
                <a:lnSpc>
                  <a:spcPct val="90000"/>
                </a:lnSpc>
                <a:spcBef>
                  <a:spcPct val="0"/>
                </a:spcBef>
                <a:spcAft>
                  <a:spcPct val="35000"/>
                </a:spcAft>
              </a:pPr>
              <a:r>
                <a:rPr lang="en-US" sz="5159" dirty="0"/>
                <a:t>Methods</a:t>
              </a:r>
            </a:p>
          </p:txBody>
        </p:sp>
      </p:grpSp>
      <p:graphicFrame>
        <p:nvGraphicFramePr>
          <p:cNvPr id="19" name="Content Placeholder 19">
            <a:extLst>
              <a:ext uri="{FF2B5EF4-FFF2-40B4-BE49-F238E27FC236}">
                <a16:creationId xmlns:a16="http://schemas.microsoft.com/office/drawing/2014/main" id="{972C69FF-5D3E-942D-5C3A-5E3A69F256DF}"/>
              </a:ext>
            </a:extLst>
          </p:cNvPr>
          <p:cNvGraphicFramePr>
            <a:graphicFrameLocks/>
          </p:cNvGraphicFramePr>
          <p:nvPr>
            <p:extLst>
              <p:ext uri="{D42A27DB-BD31-4B8C-83A1-F6EECF244321}">
                <p14:modId xmlns:p14="http://schemas.microsoft.com/office/powerpoint/2010/main" val="2306901060"/>
              </p:ext>
            </p:extLst>
          </p:nvPr>
        </p:nvGraphicFramePr>
        <p:xfrm>
          <a:off x="769916" y="23393400"/>
          <a:ext cx="14365119" cy="540252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nvGrpSpPr>
          <p:cNvPr id="5" name="Group 4">
            <a:extLst>
              <a:ext uri="{FF2B5EF4-FFF2-40B4-BE49-F238E27FC236}">
                <a16:creationId xmlns:a16="http://schemas.microsoft.com/office/drawing/2014/main" id="{285366C8-D3C4-982F-8221-59FE3D5BBAB2}"/>
              </a:ext>
            </a:extLst>
          </p:cNvPr>
          <p:cNvGrpSpPr/>
          <p:nvPr/>
        </p:nvGrpSpPr>
        <p:grpSpPr>
          <a:xfrm>
            <a:off x="1299368" y="22021800"/>
            <a:ext cx="9608809" cy="1198018"/>
            <a:chOff x="0" y="45787"/>
            <a:chExt cx="10529262" cy="1463085"/>
          </a:xfrm>
          <a:scene3d>
            <a:camera prst="orthographicFront"/>
            <a:lightRig rig="flat" dir="t"/>
          </a:scene3d>
        </p:grpSpPr>
        <p:sp>
          <p:nvSpPr>
            <p:cNvPr id="7" name="Rounded Rectangle 29">
              <a:extLst>
                <a:ext uri="{FF2B5EF4-FFF2-40B4-BE49-F238E27FC236}">
                  <a16:creationId xmlns:a16="http://schemas.microsoft.com/office/drawing/2014/main" id="{8B6F86D7-BE5A-48B6-8551-B0F35A4A8EF9}"/>
                </a:ext>
              </a:extLst>
            </p:cNvPr>
            <p:cNvSpPr/>
            <p:nvPr/>
          </p:nvSpPr>
          <p:spPr>
            <a:xfrm>
              <a:off x="0" y="45787"/>
              <a:ext cx="10529262" cy="1463085"/>
            </a:xfrm>
            <a:prstGeom prst="roundRect">
              <a:avLst/>
            </a:prstGeom>
            <a:solidFill>
              <a:schemeClr val="bg2"/>
            </a:solidFill>
            <a:sp3d prstMaterial="dkEdge">
              <a:bevelT w="8200" h="38100"/>
            </a:sp3d>
          </p:spPr>
          <p:style>
            <a:lnRef idx="0">
              <a:schemeClr val="lt1">
                <a:hueOff val="0"/>
                <a:satOff val="0"/>
                <a:lumOff val="0"/>
                <a:alphaOff val="0"/>
              </a:schemeClr>
            </a:lnRef>
            <a:fillRef idx="2">
              <a:schemeClr val="accent4">
                <a:shade val="80000"/>
                <a:hueOff val="0"/>
                <a:satOff val="0"/>
                <a:lumOff val="0"/>
                <a:alphaOff val="0"/>
              </a:schemeClr>
            </a:fillRef>
            <a:effectRef idx="1">
              <a:schemeClr val="accent4">
                <a:shade val="80000"/>
                <a:hueOff val="0"/>
                <a:satOff val="0"/>
                <a:lumOff val="0"/>
                <a:alphaOff val="0"/>
              </a:schemeClr>
            </a:effectRef>
            <a:fontRef idx="minor">
              <a:schemeClr val="dk1"/>
            </a:fontRef>
          </p:style>
          <p:txBody>
            <a:bodyPr/>
            <a:lstStyle/>
            <a:p>
              <a:endParaRPr lang="en-US" sz="1336"/>
            </a:p>
          </p:txBody>
        </p:sp>
        <p:sp>
          <p:nvSpPr>
            <p:cNvPr id="8" name="Rounded Rectangle 4">
              <a:extLst>
                <a:ext uri="{FF2B5EF4-FFF2-40B4-BE49-F238E27FC236}">
                  <a16:creationId xmlns:a16="http://schemas.microsoft.com/office/drawing/2014/main" id="{5AB16150-5BB1-1ECE-FA91-B56E05ACBDED}"/>
                </a:ext>
              </a:extLst>
            </p:cNvPr>
            <p:cNvSpPr/>
            <p:nvPr/>
          </p:nvSpPr>
          <p:spPr>
            <a:xfrm>
              <a:off x="71422" y="117209"/>
              <a:ext cx="9388010" cy="1320241"/>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90304" tIns="190304" rIns="190304" bIns="190304" numCol="1" spcCol="1270" anchor="ctr" anchorCtr="0">
              <a:noAutofit/>
            </a:bodyPr>
            <a:lstStyle/>
            <a:p>
              <a:pPr defTabSz="2219847">
                <a:lnSpc>
                  <a:spcPct val="90000"/>
                </a:lnSpc>
                <a:spcBef>
                  <a:spcPct val="0"/>
                </a:spcBef>
                <a:spcAft>
                  <a:spcPct val="35000"/>
                </a:spcAft>
              </a:pPr>
              <a:r>
                <a:rPr lang="en-US" sz="5159" dirty="0"/>
                <a:t>Introduction</a:t>
              </a:r>
            </a:p>
          </p:txBody>
        </p:sp>
      </p:grpSp>
      <p:sp>
        <p:nvSpPr>
          <p:cNvPr id="24" name="TextBox 23">
            <a:extLst>
              <a:ext uri="{FF2B5EF4-FFF2-40B4-BE49-F238E27FC236}">
                <a16:creationId xmlns:a16="http://schemas.microsoft.com/office/drawing/2014/main" id="{2C5DE6F7-9911-129E-6AE1-4E0BAB5702A7}"/>
              </a:ext>
            </a:extLst>
          </p:cNvPr>
          <p:cNvSpPr txBox="1"/>
          <p:nvPr/>
        </p:nvSpPr>
        <p:spPr>
          <a:xfrm flipH="1">
            <a:off x="20134366" y="15697200"/>
            <a:ext cx="6611834" cy="589072"/>
          </a:xfrm>
          <a:prstGeom prst="rect">
            <a:avLst/>
          </a:prstGeom>
          <a:noFill/>
        </p:spPr>
        <p:txBody>
          <a:bodyPr wrap="square" rtlCol="0">
            <a:spAutoFit/>
          </a:bodyPr>
          <a:lstStyle/>
          <a:p>
            <a:r>
              <a:rPr lang="en-US" sz="3228" dirty="0"/>
              <a:t>The Basic Workflow</a:t>
            </a:r>
            <a:endParaRPr lang="en-GB" sz="3228" dirty="0"/>
          </a:p>
        </p:txBody>
      </p:sp>
      <p:grpSp>
        <p:nvGrpSpPr>
          <p:cNvPr id="2" name="Group 1">
            <a:extLst>
              <a:ext uri="{FF2B5EF4-FFF2-40B4-BE49-F238E27FC236}">
                <a16:creationId xmlns:a16="http://schemas.microsoft.com/office/drawing/2014/main" id="{7E2A84DB-655F-BE04-8B84-1B9C7BA9C926}"/>
              </a:ext>
            </a:extLst>
          </p:cNvPr>
          <p:cNvGrpSpPr/>
          <p:nvPr/>
        </p:nvGrpSpPr>
        <p:grpSpPr>
          <a:xfrm>
            <a:off x="17166341" y="24650854"/>
            <a:ext cx="9608809" cy="1198018"/>
            <a:chOff x="0" y="45787"/>
            <a:chExt cx="10529262" cy="1463085"/>
          </a:xfrm>
          <a:solidFill>
            <a:schemeClr val="bg2"/>
          </a:solidFill>
          <a:scene3d>
            <a:camera prst="orthographicFront"/>
            <a:lightRig rig="flat" dir="t"/>
          </a:scene3d>
        </p:grpSpPr>
        <p:sp>
          <p:nvSpPr>
            <p:cNvPr id="3" name="Rounded Rectangle 13">
              <a:extLst>
                <a:ext uri="{FF2B5EF4-FFF2-40B4-BE49-F238E27FC236}">
                  <a16:creationId xmlns:a16="http://schemas.microsoft.com/office/drawing/2014/main" id="{BD13A6D8-6CF9-7A74-D29D-35D0027AEEF7}"/>
                </a:ext>
              </a:extLst>
            </p:cNvPr>
            <p:cNvSpPr/>
            <p:nvPr/>
          </p:nvSpPr>
          <p:spPr>
            <a:xfrm>
              <a:off x="0" y="45787"/>
              <a:ext cx="10529262" cy="1463085"/>
            </a:xfrm>
            <a:prstGeom prst="roundRect">
              <a:avLst/>
            </a:prstGeom>
            <a:grpFill/>
            <a:sp3d prstMaterial="dkEdge">
              <a:bevelT w="8200" h="38100"/>
            </a:sp3d>
          </p:spPr>
          <p:style>
            <a:lnRef idx="0">
              <a:schemeClr val="lt1">
                <a:hueOff val="0"/>
                <a:satOff val="0"/>
                <a:lumOff val="0"/>
                <a:alphaOff val="0"/>
              </a:schemeClr>
            </a:lnRef>
            <a:fillRef idx="2">
              <a:schemeClr val="accent4">
                <a:shade val="80000"/>
                <a:hueOff val="0"/>
                <a:satOff val="0"/>
                <a:lumOff val="0"/>
                <a:alphaOff val="0"/>
              </a:schemeClr>
            </a:fillRef>
            <a:effectRef idx="1">
              <a:schemeClr val="accent4">
                <a:shade val="80000"/>
                <a:hueOff val="0"/>
                <a:satOff val="0"/>
                <a:lumOff val="0"/>
                <a:alphaOff val="0"/>
              </a:schemeClr>
            </a:effectRef>
            <a:fontRef idx="minor">
              <a:schemeClr val="dk1"/>
            </a:fontRef>
          </p:style>
          <p:txBody>
            <a:bodyPr/>
            <a:lstStyle/>
            <a:p>
              <a:endParaRPr lang="en-US" sz="1336"/>
            </a:p>
          </p:txBody>
        </p:sp>
        <p:sp>
          <p:nvSpPr>
            <p:cNvPr id="6" name="Rounded Rectangle 4">
              <a:extLst>
                <a:ext uri="{FF2B5EF4-FFF2-40B4-BE49-F238E27FC236}">
                  <a16:creationId xmlns:a16="http://schemas.microsoft.com/office/drawing/2014/main" id="{37B64307-008C-619F-0F1A-E26F2F52C4B0}"/>
                </a:ext>
              </a:extLst>
            </p:cNvPr>
            <p:cNvSpPr/>
            <p:nvPr/>
          </p:nvSpPr>
          <p:spPr>
            <a:xfrm>
              <a:off x="71422" y="117209"/>
              <a:ext cx="10389469" cy="1320241"/>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190304" tIns="190304" rIns="190304" bIns="190304" numCol="1" spcCol="1270" anchor="ctr" anchorCtr="0">
              <a:noAutofit/>
            </a:bodyPr>
            <a:lstStyle/>
            <a:p>
              <a:pPr defTabSz="2219847">
                <a:lnSpc>
                  <a:spcPct val="90000"/>
                </a:lnSpc>
                <a:spcBef>
                  <a:spcPct val="0"/>
                </a:spcBef>
                <a:spcAft>
                  <a:spcPct val="35000"/>
                </a:spcAft>
              </a:pPr>
              <a:r>
                <a:rPr lang="en-US" sz="5159" dirty="0"/>
                <a:t>Future Work </a:t>
              </a:r>
            </a:p>
          </p:txBody>
        </p:sp>
      </p:grpSp>
      <p:sp>
        <p:nvSpPr>
          <p:cNvPr id="25" name="Rectangle 24">
            <a:extLst>
              <a:ext uri="{FF2B5EF4-FFF2-40B4-BE49-F238E27FC236}">
                <a16:creationId xmlns:a16="http://schemas.microsoft.com/office/drawing/2014/main" id="{C908E5C0-99B6-ADA5-22AF-5CD75C3FDF03}"/>
              </a:ext>
            </a:extLst>
          </p:cNvPr>
          <p:cNvSpPr/>
          <p:nvPr/>
        </p:nvSpPr>
        <p:spPr>
          <a:xfrm>
            <a:off x="17017125" y="26089992"/>
            <a:ext cx="14629394" cy="5860762"/>
          </a:xfrm>
          <a:prstGeom prst="rect">
            <a:avLst/>
          </a:prstGeom>
        </p:spPr>
        <p:txBody>
          <a:bodyPr wrap="square" lIns="74857" tIns="37429" rIns="74857" bIns="37429">
            <a:spAutoFit/>
          </a:bodyPr>
          <a:lstStyle/>
          <a:p>
            <a:pPr algn="just"/>
            <a:r>
              <a:rPr lang="en-US" sz="4400" dirty="0">
                <a:ea typeface="Average"/>
                <a:cs typeface="Average"/>
                <a:sym typeface="Average"/>
              </a:rPr>
              <a:t>Compare two different approaches:</a:t>
            </a:r>
          </a:p>
          <a:p>
            <a:pPr marL="512398" indent="-419235" algn="just">
              <a:spcBef>
                <a:spcPts val="1650"/>
              </a:spcBef>
              <a:buClr>
                <a:srgbClr val="000000"/>
              </a:buClr>
              <a:buSzPts val="1600"/>
              <a:buFont typeface="Wingdings" panose="05000000000000000000" pitchFamily="2" charset="2"/>
              <a:buChar char="§"/>
            </a:pPr>
            <a:r>
              <a:rPr lang="en-US" sz="4400" dirty="0">
                <a:ea typeface="Average"/>
                <a:cs typeface="Average"/>
                <a:sym typeface="Average"/>
              </a:rPr>
              <a:t>L</a:t>
            </a:r>
            <a:r>
              <a:rPr lang="en-US" sz="4400" dirty="0">
                <a:solidFill>
                  <a:srgbClr val="000000"/>
                </a:solidFill>
                <a:ea typeface="Average"/>
                <a:cs typeface="Average"/>
                <a:sym typeface="Average"/>
              </a:rPr>
              <a:t>ightweight by design</a:t>
            </a:r>
            <a:r>
              <a:rPr lang="en-US" sz="4400" dirty="0">
                <a:ea typeface="Average"/>
                <a:cs typeface="Average"/>
                <a:sym typeface="Average"/>
              </a:rPr>
              <a:t>: maintaining a </a:t>
            </a:r>
            <a:r>
              <a:rPr lang="en-US" sz="4400" dirty="0">
                <a:solidFill>
                  <a:srgbClr val="000000"/>
                </a:solidFill>
                <a:ea typeface="Average"/>
                <a:cs typeface="Average"/>
                <a:sym typeface="Average"/>
              </a:rPr>
              <a:t>reasonable performance and is achieved by the introduction of depth-wise convolution layers which help reduce model size and complexity.</a:t>
            </a:r>
            <a:endParaRPr lang="en-US" sz="4400" dirty="0">
              <a:ea typeface="Average"/>
              <a:cs typeface="Average"/>
              <a:sym typeface="Average"/>
            </a:endParaRPr>
          </a:p>
          <a:p>
            <a:pPr marL="512398" indent="-419235" algn="just">
              <a:spcBef>
                <a:spcPts val="1650"/>
              </a:spcBef>
              <a:buClr>
                <a:srgbClr val="000000"/>
              </a:buClr>
              <a:buSzPts val="1600"/>
              <a:buFont typeface="Wingdings" panose="05000000000000000000" pitchFamily="2" charset="2"/>
              <a:buChar char="§"/>
            </a:pPr>
            <a:r>
              <a:rPr lang="en-US" sz="4400" dirty="0">
                <a:ea typeface="Average"/>
                <a:cs typeface="Average"/>
                <a:sym typeface="Average"/>
              </a:rPr>
              <a:t>L</a:t>
            </a:r>
            <a:r>
              <a:rPr lang="en-US" sz="4400" dirty="0">
                <a:solidFill>
                  <a:srgbClr val="000000"/>
                </a:solidFill>
                <a:ea typeface="Average"/>
                <a:cs typeface="Average"/>
                <a:sym typeface="Average"/>
              </a:rPr>
              <a:t>arge, pre-trained neural networks and compress them to reduce their size while minimizing loss in performance. </a:t>
            </a:r>
            <a:endParaRPr lang="en-US" sz="4400" dirty="0">
              <a:ea typeface="Average"/>
              <a:cs typeface="Average"/>
              <a:sym typeface="Average"/>
            </a:endParaRPr>
          </a:p>
          <a:p>
            <a:pPr algn="just" defTabSz="2682482">
              <a:lnSpc>
                <a:spcPct val="90000"/>
              </a:lnSpc>
              <a:spcBef>
                <a:spcPct val="0"/>
              </a:spcBef>
              <a:spcAft>
                <a:spcPct val="20000"/>
              </a:spcAft>
            </a:pPr>
            <a:endParaRPr lang="en-US" sz="4400" dirty="0">
              <a:solidFill>
                <a:srgbClr val="000000"/>
              </a:solidFill>
              <a:latin typeface="Corbel" panose="020B0503020204020204"/>
            </a:endParaRPr>
          </a:p>
        </p:txBody>
      </p:sp>
      <p:sp>
        <p:nvSpPr>
          <p:cNvPr id="40" name="TextBox 39">
            <a:extLst>
              <a:ext uri="{FF2B5EF4-FFF2-40B4-BE49-F238E27FC236}">
                <a16:creationId xmlns:a16="http://schemas.microsoft.com/office/drawing/2014/main" id="{735BC62F-B151-FC5D-B61F-7EE5B7D74F96}"/>
              </a:ext>
            </a:extLst>
          </p:cNvPr>
          <p:cNvSpPr txBox="1"/>
          <p:nvPr/>
        </p:nvSpPr>
        <p:spPr>
          <a:xfrm flipH="1">
            <a:off x="4292970" y="37261800"/>
            <a:ext cx="6611834" cy="589072"/>
          </a:xfrm>
          <a:prstGeom prst="rect">
            <a:avLst/>
          </a:prstGeom>
          <a:noFill/>
        </p:spPr>
        <p:txBody>
          <a:bodyPr wrap="square" rtlCol="0">
            <a:spAutoFit/>
          </a:bodyPr>
          <a:lstStyle/>
          <a:p>
            <a:pPr algn="ctr" defTabSz="2682482"/>
            <a:r>
              <a:rPr lang="en-US" sz="3228" dirty="0">
                <a:solidFill>
                  <a:srgbClr val="000000"/>
                </a:solidFill>
                <a:ea typeface="Average"/>
                <a:cs typeface="Average"/>
                <a:sym typeface="Average"/>
              </a:rPr>
              <a:t>The Theoretical Framework</a:t>
            </a:r>
            <a:endParaRPr lang="en-US" sz="3228" dirty="0">
              <a:ea typeface="Average"/>
              <a:cs typeface="Average"/>
              <a:sym typeface="Average"/>
            </a:endParaRPr>
          </a:p>
        </p:txBody>
      </p:sp>
      <p:grpSp>
        <p:nvGrpSpPr>
          <p:cNvPr id="23" name="Group 22">
            <a:extLst>
              <a:ext uri="{FF2B5EF4-FFF2-40B4-BE49-F238E27FC236}">
                <a16:creationId xmlns:a16="http://schemas.microsoft.com/office/drawing/2014/main" id="{D2AD5B02-E3F6-E03B-1CAF-211710230B1C}"/>
              </a:ext>
            </a:extLst>
          </p:cNvPr>
          <p:cNvGrpSpPr/>
          <p:nvPr/>
        </p:nvGrpSpPr>
        <p:grpSpPr>
          <a:xfrm>
            <a:off x="17230127" y="31491782"/>
            <a:ext cx="9676082" cy="1198018"/>
            <a:chOff x="-73717" y="45787"/>
            <a:chExt cx="10602979" cy="1463085"/>
          </a:xfrm>
          <a:solidFill>
            <a:schemeClr val="bg2"/>
          </a:solidFill>
          <a:scene3d>
            <a:camera prst="orthographicFront"/>
            <a:lightRig rig="flat" dir="t"/>
          </a:scene3d>
        </p:grpSpPr>
        <p:sp>
          <p:nvSpPr>
            <p:cNvPr id="26" name="Rounded Rectangle 13">
              <a:extLst>
                <a:ext uri="{FF2B5EF4-FFF2-40B4-BE49-F238E27FC236}">
                  <a16:creationId xmlns:a16="http://schemas.microsoft.com/office/drawing/2014/main" id="{76C960AE-E3BC-B941-F49C-B2FE10FB8399}"/>
                </a:ext>
              </a:extLst>
            </p:cNvPr>
            <p:cNvSpPr/>
            <p:nvPr/>
          </p:nvSpPr>
          <p:spPr>
            <a:xfrm>
              <a:off x="0" y="45787"/>
              <a:ext cx="10529262" cy="1463085"/>
            </a:xfrm>
            <a:prstGeom prst="roundRect">
              <a:avLst/>
            </a:prstGeom>
            <a:grpFill/>
            <a:sp3d prstMaterial="dkEdge">
              <a:bevelT w="8200" h="38100"/>
            </a:sp3d>
          </p:spPr>
          <p:style>
            <a:lnRef idx="0">
              <a:schemeClr val="lt1">
                <a:hueOff val="0"/>
                <a:satOff val="0"/>
                <a:lumOff val="0"/>
                <a:alphaOff val="0"/>
              </a:schemeClr>
            </a:lnRef>
            <a:fillRef idx="2">
              <a:schemeClr val="accent4">
                <a:shade val="80000"/>
                <a:hueOff val="0"/>
                <a:satOff val="0"/>
                <a:lumOff val="0"/>
                <a:alphaOff val="0"/>
              </a:schemeClr>
            </a:fillRef>
            <a:effectRef idx="1">
              <a:schemeClr val="accent4">
                <a:shade val="80000"/>
                <a:hueOff val="0"/>
                <a:satOff val="0"/>
                <a:lumOff val="0"/>
                <a:alphaOff val="0"/>
              </a:schemeClr>
            </a:effectRef>
            <a:fontRef idx="minor">
              <a:schemeClr val="dk1"/>
            </a:fontRef>
          </p:style>
          <p:txBody>
            <a:bodyPr/>
            <a:lstStyle/>
            <a:p>
              <a:endParaRPr lang="en-US" sz="1336"/>
            </a:p>
          </p:txBody>
        </p:sp>
        <p:sp>
          <p:nvSpPr>
            <p:cNvPr id="41" name="Rounded Rectangle 4">
              <a:extLst>
                <a:ext uri="{FF2B5EF4-FFF2-40B4-BE49-F238E27FC236}">
                  <a16:creationId xmlns:a16="http://schemas.microsoft.com/office/drawing/2014/main" id="{61F69A83-7F16-5198-A039-FBDFBB7D92BA}"/>
                </a:ext>
              </a:extLst>
            </p:cNvPr>
            <p:cNvSpPr/>
            <p:nvPr/>
          </p:nvSpPr>
          <p:spPr>
            <a:xfrm>
              <a:off x="-73717" y="180987"/>
              <a:ext cx="10389470" cy="1320241"/>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190304" tIns="190304" rIns="190304" bIns="190304" numCol="1" spcCol="1270" anchor="ctr" anchorCtr="0">
              <a:noAutofit/>
            </a:bodyPr>
            <a:lstStyle/>
            <a:p>
              <a:pPr defTabSz="2219847">
                <a:lnSpc>
                  <a:spcPct val="90000"/>
                </a:lnSpc>
                <a:spcBef>
                  <a:spcPct val="0"/>
                </a:spcBef>
                <a:spcAft>
                  <a:spcPct val="35000"/>
                </a:spcAft>
              </a:pPr>
              <a:r>
                <a:rPr lang="en-US" sz="5159" dirty="0"/>
                <a:t>References</a:t>
              </a:r>
            </a:p>
          </p:txBody>
        </p:sp>
      </p:grpSp>
      <p:sp>
        <p:nvSpPr>
          <p:cNvPr id="42" name="Rectangle 41">
            <a:extLst>
              <a:ext uri="{FF2B5EF4-FFF2-40B4-BE49-F238E27FC236}">
                <a16:creationId xmlns:a16="http://schemas.microsoft.com/office/drawing/2014/main" id="{CBE180E9-3D58-8608-9028-EA435A32D173}"/>
              </a:ext>
            </a:extLst>
          </p:cNvPr>
          <p:cNvSpPr/>
          <p:nvPr/>
        </p:nvSpPr>
        <p:spPr>
          <a:xfrm>
            <a:off x="17207804" y="33275948"/>
            <a:ext cx="14692501" cy="4230573"/>
          </a:xfrm>
          <a:prstGeom prst="rect">
            <a:avLst/>
          </a:prstGeom>
        </p:spPr>
        <p:txBody>
          <a:bodyPr wrap="square" lIns="74857" tIns="37429" rIns="74857" bIns="37429">
            <a:spAutoFit/>
          </a:bodyPr>
          <a:lstStyle/>
          <a:p>
            <a:r>
              <a:rPr lang="en-US" dirty="0"/>
              <a:t>[1]El-Nabi,S.A.,El-Shafai,W.,El-Rabaie,ES.M.</a:t>
            </a:r>
            <a:r>
              <a:rPr lang="en-US" i="1" dirty="0"/>
              <a:t>etal.</a:t>
            </a:r>
            <a:r>
              <a:rPr lang="en-US" dirty="0"/>
              <a:t>Machinelearninganddeeplearningtechniquesfordriverfatigueanddrowsinessdetection:areview.</a:t>
            </a:r>
            <a:r>
              <a:rPr lang="en-US" i="1" dirty="0"/>
              <a:t>MultipedToolsAppl</a:t>
            </a:r>
            <a:r>
              <a:rPr lang="en-US" b="1" dirty="0"/>
              <a:t>83</a:t>
            </a:r>
            <a:r>
              <a:rPr lang="en-US" dirty="0"/>
              <a:t>,9441–9477(2024).https://doi.org/10.1007/s11042-023-15054-0</a:t>
            </a:r>
          </a:p>
          <a:p>
            <a:r>
              <a:rPr lang="en-US" dirty="0"/>
              <a:t>[2]G.</a:t>
            </a:r>
            <a:r>
              <a:rPr lang="en-US" dirty="0" err="1"/>
              <a:t>Ohetal</a:t>
            </a:r>
            <a:r>
              <a:rPr lang="en-US" dirty="0"/>
              <a:t>.,“</a:t>
            </a:r>
            <a:r>
              <a:rPr lang="en-US" dirty="0" err="1"/>
              <a:t>DRER:DeepLearning</a:t>
            </a:r>
            <a:r>
              <a:rPr lang="en-US" dirty="0"/>
              <a:t>–BasedDriver’sRealEmotionRecognizer,”Sensors,vol.21,no.6,p.2166,Mar.2021,doi:https://doi.org/10.3390/s21062166.</a:t>
            </a:r>
          </a:p>
          <a:p>
            <a:r>
              <a:rPr lang="en-US" dirty="0"/>
              <a:t>[3]F.Liu,D.Chen,J.Zhou,andF.Xu,“AreviewofdriverfatiguedetectionanditsadvancesontheuseofRGB-Dcameraanddeeplearning,”EngineeringApplicationsofArtificialIntelligence,vol.116,p.105399,Nov.2022,doi:https://doi.org/10.1016/j.engappai.2022.105399.</a:t>
            </a:r>
          </a:p>
          <a:p>
            <a:r>
              <a:rPr lang="en-US" dirty="0"/>
              <a:t>[4]H.Jia,Z.XiaoandP.Ji,"FatigueDrivingDetectionBasedonDeepLearningandMulti-IndexFusion,"inIEEEAccess,vol.9,pp.147054-147062,2021,doi:10.1109/ACCESS.2021.3123388.</a:t>
            </a:r>
          </a:p>
          <a:p>
            <a:r>
              <a:rPr lang="en-US" dirty="0"/>
              <a:t>[5]RongrongFu,HongWang,WenboZhao,DynamicdriverfatiguedetectionusinghiddenMarkovmodelinrealdrivingcondition,ExpertSystemswithApplications,Volume63,2016,Pages397-411,ISSN0957-4174,https://doi.org/10.1016/j.eswa.2016.06.042.</a:t>
            </a:r>
          </a:p>
          <a:p>
            <a:r>
              <a:rPr lang="en-US" dirty="0"/>
              <a:t>[6] M. H. Alkinani, W. Z. Khan, and Q. Arshad, "Detecting Human Driver Inattentive and Aggressive Driving Behavior Using </a:t>
            </a:r>
            <a:r>
              <a:rPr lang="en-US" dirty="0" err="1"/>
              <a:t>DeepLearning</a:t>
            </a:r>
            <a:r>
              <a:rPr lang="en-US" dirty="0"/>
              <a:t>: Recent Advances, Requirements and Open Challenges," in IEEE Access, vol. 8, pp. 105008-105030, 2020, </a:t>
            </a:r>
            <a:r>
              <a:rPr lang="en-US" dirty="0" err="1"/>
              <a:t>doi</a:t>
            </a:r>
            <a:r>
              <a:rPr lang="en-US" dirty="0"/>
              <a:t>: 10.1109/ACCESS.2020.2999829. </a:t>
            </a:r>
          </a:p>
          <a:p>
            <a:r>
              <a:rPr lang="en-US" dirty="0"/>
              <a:t>[7] Kawaguchi, N.; Matsubara, S.; Takeda, K.; Itakura, F. CIAIR in-car speech corpus–influence of driving status–. </a:t>
            </a:r>
            <a:r>
              <a:rPr lang="en-US" i="1" dirty="0"/>
              <a:t>IEICE Trans. Inf. Syst. </a:t>
            </a:r>
            <a:r>
              <a:rPr lang="en-US" b="1" dirty="0"/>
              <a:t>2005</a:t>
            </a:r>
            <a:r>
              <a:rPr lang="en-US" dirty="0"/>
              <a:t>, </a:t>
            </a:r>
            <a:r>
              <a:rPr lang="en-US" i="1" dirty="0"/>
              <a:t>88</a:t>
            </a:r>
            <a:r>
              <a:rPr lang="en-US" dirty="0"/>
              <a:t>, 578–582 </a:t>
            </a:r>
          </a:p>
          <a:p>
            <a:r>
              <a:rPr lang="en-US" dirty="0"/>
              <a:t>[8] L. Mou, C. Zhou, P. Zhao, B. Nakisa, M. N. </a:t>
            </a:r>
            <a:r>
              <a:rPr lang="en-US" dirty="0" err="1"/>
              <a:t>Rastgoo</a:t>
            </a:r>
            <a:r>
              <a:rPr lang="en-US" dirty="0"/>
              <a:t>, R. Jain, and W. Gao, "Driver stress detection via multimodal fusion using attention-based CNN-LSTM," Expert Systems with Applications, vol. 173, p. 114693, 2021, </a:t>
            </a:r>
            <a:r>
              <a:rPr lang="en-US" dirty="0" err="1"/>
              <a:t>doi</a:t>
            </a:r>
            <a:r>
              <a:rPr lang="en-US" dirty="0"/>
              <a:t>: 10.1016/j.eswa.2021.114693.</a:t>
            </a:r>
            <a:endParaRPr lang="en-US" sz="2400" dirty="0">
              <a:solidFill>
                <a:srgbClr val="000000"/>
              </a:solidFill>
              <a:latin typeface="Corbel" panose="020B0503020204020204"/>
            </a:endParaRPr>
          </a:p>
        </p:txBody>
      </p:sp>
      <p:pic>
        <p:nvPicPr>
          <p:cNvPr id="43" name="Picture 42">
            <a:extLst>
              <a:ext uri="{FF2B5EF4-FFF2-40B4-BE49-F238E27FC236}">
                <a16:creationId xmlns:a16="http://schemas.microsoft.com/office/drawing/2014/main" id="{D27A545E-2857-D9E3-94EB-B0162E7A85AF}"/>
              </a:ext>
            </a:extLst>
          </p:cNvPr>
          <p:cNvPicPr>
            <a:picLocks noChangeAspect="1"/>
          </p:cNvPicPr>
          <p:nvPr/>
        </p:nvPicPr>
        <p:blipFill>
          <a:blip r:embed="rId13"/>
          <a:stretch>
            <a:fillRect/>
          </a:stretch>
        </p:blipFill>
        <p:spPr>
          <a:xfrm>
            <a:off x="2209800" y="33070800"/>
            <a:ext cx="11353800" cy="4101680"/>
          </a:xfrm>
          <a:prstGeom prst="rect">
            <a:avLst/>
          </a:prstGeom>
        </p:spPr>
      </p:pic>
      <p:pic>
        <p:nvPicPr>
          <p:cNvPr id="45" name="Picture 44">
            <a:extLst>
              <a:ext uri="{FF2B5EF4-FFF2-40B4-BE49-F238E27FC236}">
                <a16:creationId xmlns:a16="http://schemas.microsoft.com/office/drawing/2014/main" id="{38467168-B9C6-471F-63E6-007730018DA0}"/>
              </a:ext>
            </a:extLst>
          </p:cNvPr>
          <p:cNvPicPr>
            <a:picLocks noChangeAspect="1"/>
          </p:cNvPicPr>
          <p:nvPr/>
        </p:nvPicPr>
        <p:blipFill>
          <a:blip r:embed="rId14"/>
          <a:stretch>
            <a:fillRect/>
          </a:stretch>
        </p:blipFill>
        <p:spPr>
          <a:xfrm>
            <a:off x="17207805" y="9994720"/>
            <a:ext cx="9690795" cy="5473880"/>
          </a:xfrm>
          <a:prstGeom prst="rect">
            <a:avLst/>
          </a:prstGeom>
        </p:spPr>
      </p:pic>
      <p:pic>
        <p:nvPicPr>
          <p:cNvPr id="47" name="Picture 46">
            <a:extLst>
              <a:ext uri="{FF2B5EF4-FFF2-40B4-BE49-F238E27FC236}">
                <a16:creationId xmlns:a16="http://schemas.microsoft.com/office/drawing/2014/main" id="{38B52040-0BC3-99CE-825D-86DD07AB9D9A}"/>
              </a:ext>
            </a:extLst>
          </p:cNvPr>
          <p:cNvPicPr>
            <a:picLocks noChangeAspect="1"/>
          </p:cNvPicPr>
          <p:nvPr/>
        </p:nvPicPr>
        <p:blipFill>
          <a:blip r:embed="rId15"/>
          <a:stretch>
            <a:fillRect/>
          </a:stretch>
        </p:blipFill>
        <p:spPr>
          <a:xfrm>
            <a:off x="17651555" y="18287262"/>
            <a:ext cx="2675072" cy="4549291"/>
          </a:xfrm>
          <a:prstGeom prst="rect">
            <a:avLst/>
          </a:prstGeom>
        </p:spPr>
      </p:pic>
      <p:pic>
        <p:nvPicPr>
          <p:cNvPr id="49" name="Picture 48">
            <a:extLst>
              <a:ext uri="{FF2B5EF4-FFF2-40B4-BE49-F238E27FC236}">
                <a16:creationId xmlns:a16="http://schemas.microsoft.com/office/drawing/2014/main" id="{7B90A887-0824-8842-1AE1-4E522959D562}"/>
              </a:ext>
            </a:extLst>
          </p:cNvPr>
          <p:cNvPicPr>
            <a:picLocks noChangeAspect="1"/>
          </p:cNvPicPr>
          <p:nvPr/>
        </p:nvPicPr>
        <p:blipFill>
          <a:blip r:embed="rId16"/>
          <a:stretch>
            <a:fillRect/>
          </a:stretch>
        </p:blipFill>
        <p:spPr>
          <a:xfrm>
            <a:off x="20326627" y="18302764"/>
            <a:ext cx="4657206" cy="4367497"/>
          </a:xfrm>
          <a:prstGeom prst="rect">
            <a:avLst/>
          </a:prstGeom>
        </p:spPr>
      </p:pic>
      <p:pic>
        <p:nvPicPr>
          <p:cNvPr id="51" name="Picture 50">
            <a:extLst>
              <a:ext uri="{FF2B5EF4-FFF2-40B4-BE49-F238E27FC236}">
                <a16:creationId xmlns:a16="http://schemas.microsoft.com/office/drawing/2014/main" id="{116D89ED-61DF-7A59-332C-B5BF98A9B293}"/>
              </a:ext>
            </a:extLst>
          </p:cNvPr>
          <p:cNvPicPr>
            <a:picLocks noChangeAspect="1"/>
          </p:cNvPicPr>
          <p:nvPr/>
        </p:nvPicPr>
        <p:blipFill>
          <a:blip r:embed="rId17"/>
          <a:stretch>
            <a:fillRect/>
          </a:stretch>
        </p:blipFill>
        <p:spPr>
          <a:xfrm>
            <a:off x="25146000" y="18094721"/>
            <a:ext cx="2228276" cy="4737723"/>
          </a:xfrm>
          <a:prstGeom prst="rect">
            <a:avLst/>
          </a:prstGeom>
        </p:spPr>
      </p:pic>
      <p:pic>
        <p:nvPicPr>
          <p:cNvPr id="53" name="Picture 52">
            <a:extLst>
              <a:ext uri="{FF2B5EF4-FFF2-40B4-BE49-F238E27FC236}">
                <a16:creationId xmlns:a16="http://schemas.microsoft.com/office/drawing/2014/main" id="{70F62BDE-475E-570F-E266-38C1468C6AEB}"/>
              </a:ext>
            </a:extLst>
          </p:cNvPr>
          <p:cNvPicPr>
            <a:picLocks noChangeAspect="1"/>
          </p:cNvPicPr>
          <p:nvPr/>
        </p:nvPicPr>
        <p:blipFill>
          <a:blip r:embed="rId18"/>
          <a:stretch>
            <a:fillRect/>
          </a:stretch>
        </p:blipFill>
        <p:spPr>
          <a:xfrm>
            <a:off x="27846930" y="18059401"/>
            <a:ext cx="2170888" cy="4737724"/>
          </a:xfrm>
          <a:prstGeom prst="rect">
            <a:avLst/>
          </a:prstGeom>
        </p:spPr>
      </p:pic>
      <p:pic>
        <p:nvPicPr>
          <p:cNvPr id="18" name="Picture 17">
            <a:extLst>
              <a:ext uri="{FF2B5EF4-FFF2-40B4-BE49-F238E27FC236}">
                <a16:creationId xmlns:a16="http://schemas.microsoft.com/office/drawing/2014/main" id="{DB545B8B-0E3F-0F57-F2E2-095860FA4DDB}"/>
              </a:ext>
            </a:extLst>
          </p:cNvPr>
          <p:cNvPicPr>
            <a:picLocks noChangeAspect="1"/>
          </p:cNvPicPr>
          <p:nvPr/>
        </p:nvPicPr>
        <p:blipFill>
          <a:blip r:embed="rId19"/>
          <a:stretch>
            <a:fillRect/>
          </a:stretch>
        </p:blipFill>
        <p:spPr>
          <a:xfrm>
            <a:off x="1500088" y="2554984"/>
            <a:ext cx="1749794" cy="1972922"/>
          </a:xfrm>
          <a:prstGeom prst="rect">
            <a:avLst/>
          </a:prstGeom>
        </p:spPr>
      </p:pic>
    </p:spTree>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11510</TotalTime>
  <Words>819</Words>
  <Application>Microsoft Office PowerPoint</Application>
  <PresentationFormat>Custom</PresentationFormat>
  <Paragraphs>28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Average</vt:lpstr>
      <vt:lpstr>Calibri</vt:lpstr>
      <vt:lpstr>Corbel</vt:lpstr>
      <vt:lpstr>Times New Roman</vt:lpstr>
      <vt:lpstr>Wingdings</vt:lpstr>
      <vt:lpstr>Basis</vt:lpstr>
      <vt:lpstr>Eyesense: An AI-Powered Solution for Driver Safety  Andy Li Langley High School 6520 Georgetown Pike, McLean, VA 22101   </vt:lpstr>
    </vt:vector>
  </TitlesOfParts>
  <Company>Bowie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ragada</dc:creator>
  <cp:lastModifiedBy>Jie Yan</cp:lastModifiedBy>
  <cp:revision>146</cp:revision>
  <dcterms:created xsi:type="dcterms:W3CDTF">2009-04-07T17:45:45Z</dcterms:created>
  <dcterms:modified xsi:type="dcterms:W3CDTF">2026-01-19T02:20:56Z</dcterms:modified>
</cp:coreProperties>
</file>